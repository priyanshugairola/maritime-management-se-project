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66" r:id="rId3"/>
    <p:sldId id="257" r:id="rId4"/>
    <p:sldId id="268" r:id="rId5"/>
    <p:sldId id="269" r:id="rId6"/>
    <p:sldId id="260" r:id="rId7"/>
    <p:sldId id="261" r:id="rId8"/>
    <p:sldId id="262" r:id="rId9"/>
    <p:sldId id="263" r:id="rId10"/>
    <p:sldId id="264" r:id="rId11"/>
    <p:sldId id="265" r:id="rId12"/>
  </p:sldIdLst>
  <p:sldSz cx="14630400" cy="8229600"/>
  <p:notesSz cx="8229600" cy="14630400"/>
  <p:embeddedFontLst>
    <p:embeddedFont>
      <p:font typeface="Merriweather" panose="00000500000000000000" pitchFamily="2" charset="0"/>
      <p:regular r:id="rId14"/>
      <p:bold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13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62199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5328582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4581625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7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image" Target="../media/image8.png"/><Relationship Id="rId7" Type="http://schemas.openxmlformats.org/officeDocument/2006/relationships/image" Target="../media/image12.jp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38545" y="2607292"/>
            <a:ext cx="8132739" cy="1507508"/>
          </a:xfrm>
          <a:prstGeom prst="rect">
            <a:avLst/>
          </a:prstGeom>
          <a:noFill/>
          <a:ln/>
        </p:spPr>
        <p:txBody>
          <a:bodyPr wrap="square" lIns="0" tIns="0" rIns="0" bIns="0" rtlCol="0" anchor="t"/>
          <a:lstStyle/>
          <a:p>
            <a:pPr marL="0" indent="0">
              <a:lnSpc>
                <a:spcPts val="7150"/>
              </a:lnSpc>
              <a:buNone/>
            </a:pPr>
            <a:r>
              <a:rPr lang="en-US" sz="5700" dirty="0">
                <a:solidFill>
                  <a:srgbClr val="F5F0F0"/>
                </a:solidFill>
                <a:latin typeface="Times New Roman" panose="02020603050405020304" pitchFamily="18" charset="0"/>
                <a:ea typeface="Merriweather" pitchFamily="34" charset="-122"/>
                <a:cs typeface="Times New Roman" panose="02020603050405020304" pitchFamily="18" charset="0"/>
              </a:rPr>
              <a:t>Maritime Management Portal </a:t>
            </a:r>
          </a:p>
          <a:p>
            <a:pPr marL="0" indent="0">
              <a:lnSpc>
                <a:spcPts val="7150"/>
              </a:lnSpc>
              <a:buNone/>
            </a:pPr>
            <a:r>
              <a:rPr lang="en-US" sz="2800" dirty="0">
                <a:solidFill>
                  <a:srgbClr val="F5F0F0"/>
                </a:solidFill>
                <a:latin typeface="Times New Roman" panose="02020603050405020304" pitchFamily="18" charset="0"/>
                <a:ea typeface="Merriweather" pitchFamily="34" charset="-122"/>
                <a:cs typeface="Times New Roman" panose="02020603050405020304" pitchFamily="18" charset="0"/>
              </a:rPr>
              <a:t>with AI-Based Cargo Prediction</a:t>
            </a:r>
            <a:endParaRPr lang="en-US" sz="5700" dirty="0">
              <a:latin typeface="Times New Roman" panose="02020603050405020304" pitchFamily="18" charset="0"/>
              <a:cs typeface="Times New Roman" panose="02020603050405020304" pitchFamily="18" charset="0"/>
            </a:endParaRPr>
          </a:p>
        </p:txBody>
      </p:sp>
      <p:sp>
        <p:nvSpPr>
          <p:cNvPr id="7" name="Text 3"/>
          <p:cNvSpPr/>
          <p:nvPr/>
        </p:nvSpPr>
        <p:spPr>
          <a:xfrm>
            <a:off x="447650" y="7039451"/>
            <a:ext cx="2725103" cy="369213"/>
          </a:xfrm>
          <a:prstGeom prst="rect">
            <a:avLst/>
          </a:prstGeom>
          <a:noFill/>
          <a:ln/>
        </p:spPr>
        <p:txBody>
          <a:bodyPr wrap="none" lIns="0" tIns="0" rIns="0" bIns="0" rtlCol="0" anchor="t"/>
          <a:lstStyle/>
          <a:p>
            <a:pPr marL="0" indent="0" algn="l">
              <a:lnSpc>
                <a:spcPts val="2900"/>
              </a:lnSpc>
              <a:buNone/>
            </a:pPr>
            <a:r>
              <a:rPr lang="en-US" sz="2000" b="1" dirty="0">
                <a:solidFill>
                  <a:srgbClr val="E2E6E9"/>
                </a:solidFill>
                <a:latin typeface="Calibri" panose="020F0502020204030204" pitchFamily="34" charset="0"/>
                <a:ea typeface="Calibri" panose="020F0502020204030204" pitchFamily="34" charset="0"/>
                <a:cs typeface="Calibri" panose="020F0502020204030204" pitchFamily="34" charset="0"/>
              </a:rPr>
              <a:t>Priyanshu Gairola</a:t>
            </a:r>
          </a:p>
          <a:p>
            <a:pPr marL="0" indent="0" algn="l">
              <a:lnSpc>
                <a:spcPts val="2900"/>
              </a:lnSpc>
              <a:buNone/>
            </a:pPr>
            <a:r>
              <a:rPr lang="en-US" sz="2000" b="1" dirty="0">
                <a:solidFill>
                  <a:srgbClr val="E2E6E9"/>
                </a:solidFill>
                <a:latin typeface="Calibri" panose="020F0502020204030204" pitchFamily="34" charset="0"/>
                <a:ea typeface="Calibri" panose="020F0502020204030204" pitchFamily="34" charset="0"/>
                <a:cs typeface="Calibri" panose="020F0502020204030204" pitchFamily="34" charset="0"/>
              </a:rPr>
              <a:t>22BPS1134</a:t>
            </a: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3D33C412-F6ED-FBEB-8067-901628B25A1E}"/>
              </a:ext>
            </a:extLst>
          </p:cNvPr>
          <p:cNvSpPr txBox="1"/>
          <p:nvPr/>
        </p:nvSpPr>
        <p:spPr>
          <a:xfrm>
            <a:off x="6751320" y="7039451"/>
            <a:ext cx="2119964" cy="707886"/>
          </a:xfrm>
          <a:prstGeom prst="rect">
            <a:avLst/>
          </a:prstGeom>
          <a:noFill/>
        </p:spPr>
        <p:txBody>
          <a:bodyPr wrap="square" rtlCol="0">
            <a:spAutoFit/>
          </a:bodyPr>
          <a:lstStyle/>
          <a:p>
            <a:pPr algn="r"/>
            <a:r>
              <a:rPr lang="en-IN" sz="2000" b="1" dirty="0" err="1">
                <a:solidFill>
                  <a:schemeClr val="bg1"/>
                </a:solidFill>
              </a:rPr>
              <a:t>Dr.</a:t>
            </a:r>
            <a:r>
              <a:rPr lang="en-IN" sz="2000" b="1" dirty="0">
                <a:solidFill>
                  <a:schemeClr val="bg1"/>
                </a:solidFill>
              </a:rPr>
              <a:t> Saranya G</a:t>
            </a:r>
          </a:p>
          <a:p>
            <a:pPr algn="r"/>
            <a:r>
              <a:rPr lang="en-IN" sz="2000" b="1" dirty="0">
                <a:solidFill>
                  <a:schemeClr val="bg1"/>
                </a:solidFill>
              </a:rPr>
              <a:t>G2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047043F3-A571-45E7-02BA-6F9B7458B4EC}"/>
              </a:ext>
            </a:extLst>
          </p:cNvPr>
          <p:cNvSpPr/>
          <p:nvPr/>
        </p:nvSpPr>
        <p:spPr>
          <a:xfrm>
            <a:off x="525185" y="2931795"/>
            <a:ext cx="9136975" cy="3002279"/>
          </a:xfrm>
          <a:prstGeom prst="rect">
            <a:avLst/>
          </a:prstGeom>
          <a:noFill/>
          <a:ln/>
        </p:spPr>
        <p:txBody>
          <a:bodyPr wrap="square" lIns="0" tIns="0" rIns="0" bIns="0" rtlCol="0" anchor="t"/>
          <a:lstStyle/>
          <a:p>
            <a:pPr marL="0" indent="0">
              <a:lnSpc>
                <a:spcPts val="2650"/>
              </a:lnSpc>
              <a:buNone/>
            </a:pPr>
            <a:r>
              <a:rPr lang="en-US" sz="2400" dirty="0">
                <a:solidFill>
                  <a:srgbClr val="E2E6E9"/>
                </a:solidFill>
                <a:latin typeface="Times New Roman" panose="02020603050405020304" pitchFamily="18" charset="0"/>
                <a:ea typeface="Merriweather" pitchFamily="34" charset="-122"/>
                <a:cs typeface="Times New Roman" panose="02020603050405020304" pitchFamily="18" charset="0"/>
              </a:rPr>
              <a:t>This project aims to develop a four-way web portal for maritime management accessible by four key stakeholders: Ship Owners, Management Company Employees, Crew Members, and Ships. The portal provides real-time updates on ship status, voyage information, cargo details, and contract expiration, with an additional feature for AI-based crew scheduling.</a:t>
            </a:r>
            <a:r>
              <a:rPr lang="en-US" sz="2400" dirty="0"/>
              <a:t> </a:t>
            </a:r>
            <a:r>
              <a:rPr lang="en-US" sz="2400" dirty="0">
                <a:solidFill>
                  <a:schemeClr val="bg1"/>
                </a:solidFill>
              </a:rPr>
              <a:t>This system enhances crew readiness, minimizes downtime, and automates routine scheduling processes, leveraging machine learning algorithms to make predictions based on historical data.</a:t>
            </a: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F102E21-5CEF-F99F-8CB6-FC07B771C8A6}"/>
              </a:ext>
            </a:extLst>
          </p:cNvPr>
          <p:cNvSpPr txBox="1"/>
          <p:nvPr/>
        </p:nvSpPr>
        <p:spPr>
          <a:xfrm>
            <a:off x="525185" y="1076146"/>
            <a:ext cx="6659880" cy="830997"/>
          </a:xfrm>
          <a:prstGeom prst="rect">
            <a:avLst/>
          </a:prstGeom>
          <a:noFill/>
        </p:spPr>
        <p:txBody>
          <a:bodyPr wrap="square" rtlCol="0">
            <a:spAutoFit/>
          </a:bodyPr>
          <a:lstStyle/>
          <a:p>
            <a:r>
              <a:rPr lang="en-IN" sz="4800" b="1" dirty="0">
                <a:solidFill>
                  <a:schemeClr val="bg1"/>
                </a:solidFill>
                <a:latin typeface="+mj-lt"/>
              </a:rPr>
              <a:t>Abstract</a:t>
            </a:r>
          </a:p>
        </p:txBody>
      </p:sp>
      <p:sp>
        <p:nvSpPr>
          <p:cNvPr id="5" name="Rectangle 4">
            <a:extLst>
              <a:ext uri="{FF2B5EF4-FFF2-40B4-BE49-F238E27FC236}">
                <a16:creationId xmlns:a16="http://schemas.microsoft.com/office/drawing/2014/main" id="{2ECF43DC-7DD1-DB50-70F7-CE8B8BE9A761}"/>
              </a:ext>
            </a:extLst>
          </p:cNvPr>
          <p:cNvSpPr/>
          <p:nvPr/>
        </p:nvSpPr>
        <p:spPr>
          <a:xfrm>
            <a:off x="9997440" y="0"/>
            <a:ext cx="4632960" cy="82296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IN"/>
          </a:p>
        </p:txBody>
      </p:sp>
      <p:pic>
        <p:nvPicPr>
          <p:cNvPr id="7" name="Picture 6">
            <a:extLst>
              <a:ext uri="{FF2B5EF4-FFF2-40B4-BE49-F238E27FC236}">
                <a16:creationId xmlns:a16="http://schemas.microsoft.com/office/drawing/2014/main" id="{A911951A-3A7F-EF96-32EB-F538B20FD380}"/>
              </a:ext>
            </a:extLst>
          </p:cNvPr>
          <p:cNvPicPr>
            <a:picLocks noChangeAspect="1"/>
          </p:cNvPicPr>
          <p:nvPr/>
        </p:nvPicPr>
        <p:blipFill>
          <a:blip r:embed="rId2"/>
          <a:srcRect l="55592"/>
          <a:stretch/>
        </p:blipFill>
        <p:spPr>
          <a:xfrm rot="16200000">
            <a:off x="8199120" y="1798319"/>
            <a:ext cx="8229600" cy="4632961"/>
          </a:xfrm>
          <a:prstGeom prst="rect">
            <a:avLst/>
          </a:prstGeom>
        </p:spPr>
      </p:pic>
    </p:spTree>
    <p:extLst>
      <p:ext uri="{BB962C8B-B14F-4D97-AF65-F5344CB8AC3E}">
        <p14:creationId xmlns:p14="http://schemas.microsoft.com/office/powerpoint/2010/main" val="2227881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509230" y="1124277"/>
            <a:ext cx="7573089" cy="1402794"/>
          </a:xfrm>
          <a:prstGeom prst="rect">
            <a:avLst/>
          </a:prstGeom>
          <a:noFill/>
          <a:ln/>
        </p:spPr>
        <p:txBody>
          <a:bodyPr wrap="square" lIns="0" tIns="0" rIns="0" bIns="0" rtlCol="0" anchor="t"/>
          <a:lstStyle/>
          <a:p>
            <a:pPr marL="0" indent="0">
              <a:lnSpc>
                <a:spcPts val="5500"/>
              </a:lnSpc>
              <a:buNone/>
            </a:pPr>
            <a:r>
              <a:rPr lang="en-US" sz="5400" dirty="0">
                <a:solidFill>
                  <a:schemeClr val="bg1"/>
                </a:solidFill>
              </a:rPr>
              <a:t>Introduction</a:t>
            </a:r>
          </a:p>
        </p:txBody>
      </p:sp>
      <p:sp>
        <p:nvSpPr>
          <p:cNvPr id="13" name="TextBox 12">
            <a:extLst>
              <a:ext uri="{FF2B5EF4-FFF2-40B4-BE49-F238E27FC236}">
                <a16:creationId xmlns:a16="http://schemas.microsoft.com/office/drawing/2014/main" id="{B20C6432-9264-1670-0560-42D5FB1542A9}"/>
              </a:ext>
            </a:extLst>
          </p:cNvPr>
          <p:cNvSpPr txBox="1"/>
          <p:nvPr/>
        </p:nvSpPr>
        <p:spPr>
          <a:xfrm>
            <a:off x="509230" y="2750314"/>
            <a:ext cx="8644293" cy="4154984"/>
          </a:xfrm>
          <a:prstGeom prst="rect">
            <a:avLst/>
          </a:prstGeom>
          <a:noFill/>
        </p:spPr>
        <p:txBody>
          <a:bodyPr wrap="square">
            <a:spAutoFit/>
          </a:bodyPr>
          <a:lstStyle/>
          <a:p>
            <a:r>
              <a:rPr lang="en-US" sz="2400" dirty="0">
                <a:solidFill>
                  <a:schemeClr val="bg1"/>
                </a:solidFill>
                <a:latin typeface="Times New Roman" panose="02020603050405020304" pitchFamily="18" charset="0"/>
                <a:cs typeface="Times New Roman" panose="02020603050405020304" pitchFamily="18" charset="0"/>
              </a:rPr>
              <a:t>The maritime industry involves complex operations that require efficient management and communication between different stakeholders. Traditionally, ship status updates, crew management, and voyage details are handled manually, leading to inefficiencies and communication delays. This project proposes the development of a four-way web portal to connect all key stakeholders — ship owners, crew members, management company employees, and ships — allowing them to monitor and manage operations in real time. The portal also features an AI-based cargo prediction to optimize the allocation of crew members based on operational demands and readiness.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4693682" y="404716"/>
            <a:ext cx="5243036" cy="655439"/>
          </a:xfrm>
          <a:prstGeom prst="rect">
            <a:avLst/>
          </a:prstGeom>
          <a:noFill/>
          <a:ln/>
        </p:spPr>
        <p:txBody>
          <a:bodyPr wrap="none" lIns="0" tIns="0" rIns="0" bIns="0" rtlCol="0" anchor="t"/>
          <a:lstStyle/>
          <a:p>
            <a:pPr marL="0" indent="0">
              <a:lnSpc>
                <a:spcPts val="5150"/>
              </a:lnSpc>
              <a:buNone/>
            </a:pPr>
            <a:r>
              <a:rPr lang="en-US" sz="4100" dirty="0">
                <a:solidFill>
                  <a:srgbClr val="F5F0F0"/>
                </a:solidFill>
                <a:latin typeface="Merriweather" pitchFamily="34" charset="0"/>
                <a:ea typeface="Merriweather" pitchFamily="34" charset="-122"/>
                <a:cs typeface="Merriweather" pitchFamily="34" charset="-120"/>
              </a:rPr>
              <a:t>Literature Review</a:t>
            </a:r>
            <a:endParaRPr lang="en-US" sz="4100" dirty="0"/>
          </a:p>
        </p:txBody>
      </p:sp>
      <p:sp>
        <p:nvSpPr>
          <p:cNvPr id="4" name="Shape 1"/>
          <p:cNvSpPr/>
          <p:nvPr/>
        </p:nvSpPr>
        <p:spPr>
          <a:xfrm>
            <a:off x="189132" y="1336667"/>
            <a:ext cx="14268188" cy="1407701"/>
          </a:xfrm>
          <a:prstGeom prst="roundRect">
            <a:avLst>
              <a:gd name="adj" fmla="val 7200"/>
            </a:avLst>
          </a:prstGeom>
          <a:solidFill>
            <a:srgbClr val="003180"/>
          </a:solidFill>
          <a:ln w="7620">
            <a:solidFill>
              <a:srgbClr val="194A99"/>
            </a:solidFill>
            <a:prstDash val="solid"/>
          </a:ln>
        </p:spPr>
        <p:txBody>
          <a:bodyPr/>
          <a:lstStyle/>
          <a:p>
            <a:endParaRPr lang="en-IN"/>
          </a:p>
        </p:txBody>
      </p:sp>
      <p:sp>
        <p:nvSpPr>
          <p:cNvPr id="18" name="TextBox 17">
            <a:extLst>
              <a:ext uri="{FF2B5EF4-FFF2-40B4-BE49-F238E27FC236}">
                <a16:creationId xmlns:a16="http://schemas.microsoft.com/office/drawing/2014/main" id="{D8E6F6C7-C190-E8F8-18D0-DC987005060E}"/>
              </a:ext>
            </a:extLst>
          </p:cNvPr>
          <p:cNvSpPr txBox="1"/>
          <p:nvPr/>
        </p:nvSpPr>
        <p:spPr>
          <a:xfrm>
            <a:off x="383546" y="1403322"/>
            <a:ext cx="13980910" cy="1200329"/>
          </a:xfrm>
          <a:prstGeom prst="rect">
            <a:avLst/>
          </a:prstGeom>
          <a:noFill/>
        </p:spPr>
        <p:txBody>
          <a:bodyPr wrap="square" rtlCol="0">
            <a:spAutoFit/>
          </a:bodyPr>
          <a:lstStyle/>
          <a:p>
            <a:r>
              <a:rPr lang="en-US" b="1" dirty="0">
                <a:solidFill>
                  <a:schemeClr val="bg1"/>
                </a:solidFill>
              </a:rPr>
              <a:t>1. Artificial Intelligence in Maritime Transportation: A Comprehensive Review of Safety and Risk Management Applications</a:t>
            </a:r>
            <a:br>
              <a:rPr lang="en-US" dirty="0">
                <a:solidFill>
                  <a:schemeClr val="bg1"/>
                </a:solidFill>
              </a:rPr>
            </a:br>
            <a:r>
              <a:rPr lang="en-US" dirty="0">
                <a:solidFill>
                  <a:schemeClr val="bg1"/>
                </a:solidFill>
              </a:rPr>
              <a:t>This paper discusses the use of AI in maritime transportation, focusing on risk management, crew resource management, and predictive maintenance. AI enhances maritime safety by predicting equipment failures, optimizing routes, and managing hazardous materials.</a:t>
            </a:r>
            <a:br>
              <a:rPr lang="en-US" dirty="0">
                <a:solidFill>
                  <a:schemeClr val="bg1"/>
                </a:solidFill>
              </a:rPr>
            </a:br>
            <a:r>
              <a:rPr lang="en-US" b="1" dirty="0">
                <a:solidFill>
                  <a:schemeClr val="bg1"/>
                </a:solidFill>
              </a:rPr>
              <a:t>Reference</a:t>
            </a:r>
            <a:r>
              <a:rPr lang="en-US" dirty="0">
                <a:solidFill>
                  <a:schemeClr val="bg1"/>
                </a:solidFill>
              </a:rPr>
              <a:t>: Tymoteusz Miller, </a:t>
            </a:r>
            <a:r>
              <a:rPr lang="en-US" i="1" dirty="0">
                <a:solidFill>
                  <a:schemeClr val="bg1"/>
                </a:solidFill>
              </a:rPr>
              <a:t>Artificial Intelligence in Maritime Transportation: A Comprehensive Review</a:t>
            </a:r>
            <a:r>
              <a:rPr lang="en-US" dirty="0">
                <a:solidFill>
                  <a:schemeClr val="bg1"/>
                </a:solidFill>
              </a:rPr>
              <a:t>, 2024.</a:t>
            </a:r>
            <a:endParaRPr lang="en-IN" dirty="0">
              <a:solidFill>
                <a:schemeClr val="bg1"/>
              </a:solidFill>
            </a:endParaRPr>
          </a:p>
        </p:txBody>
      </p:sp>
      <p:sp>
        <p:nvSpPr>
          <p:cNvPr id="21" name="Shape 1">
            <a:extLst>
              <a:ext uri="{FF2B5EF4-FFF2-40B4-BE49-F238E27FC236}">
                <a16:creationId xmlns:a16="http://schemas.microsoft.com/office/drawing/2014/main" id="{70D7F793-D103-67CF-0D8F-A9EE797F2CD5}"/>
              </a:ext>
            </a:extLst>
          </p:cNvPr>
          <p:cNvSpPr/>
          <p:nvPr/>
        </p:nvSpPr>
        <p:spPr>
          <a:xfrm>
            <a:off x="167994" y="3125211"/>
            <a:ext cx="14268188" cy="1407701"/>
          </a:xfrm>
          <a:prstGeom prst="roundRect">
            <a:avLst>
              <a:gd name="adj" fmla="val 7200"/>
            </a:avLst>
          </a:prstGeom>
          <a:solidFill>
            <a:srgbClr val="003180"/>
          </a:solidFill>
          <a:ln w="7620">
            <a:solidFill>
              <a:srgbClr val="194A99"/>
            </a:solidFill>
            <a:prstDash val="solid"/>
          </a:ln>
        </p:spPr>
        <p:txBody>
          <a:bodyPr/>
          <a:lstStyle/>
          <a:p>
            <a:endParaRPr lang="en-IN"/>
          </a:p>
        </p:txBody>
      </p:sp>
      <p:sp>
        <p:nvSpPr>
          <p:cNvPr id="22" name="TextBox 21">
            <a:extLst>
              <a:ext uri="{FF2B5EF4-FFF2-40B4-BE49-F238E27FC236}">
                <a16:creationId xmlns:a16="http://schemas.microsoft.com/office/drawing/2014/main" id="{2E76327A-3B47-DEF1-057A-6A25C1FDA97F}"/>
              </a:ext>
            </a:extLst>
          </p:cNvPr>
          <p:cNvSpPr txBox="1"/>
          <p:nvPr/>
        </p:nvSpPr>
        <p:spPr>
          <a:xfrm>
            <a:off x="362408" y="3191866"/>
            <a:ext cx="13980910" cy="1200329"/>
          </a:xfrm>
          <a:prstGeom prst="rect">
            <a:avLst/>
          </a:prstGeom>
          <a:noFill/>
        </p:spPr>
        <p:txBody>
          <a:bodyPr wrap="square" rtlCol="0">
            <a:spAutoFit/>
          </a:bodyPr>
          <a:lstStyle/>
          <a:p>
            <a:r>
              <a:rPr lang="en-US" b="1" dirty="0">
                <a:solidFill>
                  <a:schemeClr val="bg1"/>
                </a:solidFill>
              </a:rPr>
              <a:t>2. An AI-Based Approach to Crew Scheduling</a:t>
            </a:r>
            <a:br>
              <a:rPr lang="en-US" dirty="0">
                <a:solidFill>
                  <a:schemeClr val="bg1"/>
                </a:solidFill>
              </a:rPr>
            </a:br>
            <a:r>
              <a:rPr lang="en-US" dirty="0">
                <a:solidFill>
                  <a:schemeClr val="bg1"/>
                </a:solidFill>
              </a:rPr>
              <a:t>This study presents CREWS, an AI-based tool developed for Portuguese Railways that schedules crew members efficiently. The tool reduces scheduling time compared to manual methods and is highly adaptable, suggesting that similar techniques can benefit maritime crew scheduling.</a:t>
            </a:r>
            <a:br>
              <a:rPr lang="en-US" dirty="0">
                <a:solidFill>
                  <a:schemeClr val="bg1"/>
                </a:solidFill>
              </a:rPr>
            </a:br>
            <a:r>
              <a:rPr lang="en-US" b="1" dirty="0">
                <a:solidFill>
                  <a:schemeClr val="bg1"/>
                </a:solidFill>
              </a:rPr>
              <a:t>Reference</a:t>
            </a:r>
            <a:r>
              <a:rPr lang="en-US" dirty="0">
                <a:solidFill>
                  <a:schemeClr val="bg1"/>
                </a:solidFill>
              </a:rPr>
              <a:t>: </a:t>
            </a:r>
            <a:r>
              <a:rPr lang="en-US" dirty="0" err="1">
                <a:solidFill>
                  <a:schemeClr val="bg1"/>
                </a:solidFill>
              </a:rPr>
              <a:t>Zhe</a:t>
            </a:r>
            <a:r>
              <a:rPr lang="en-US" dirty="0">
                <a:solidFill>
                  <a:schemeClr val="bg1"/>
                </a:solidFill>
              </a:rPr>
              <a:t> Xiao, </a:t>
            </a:r>
            <a:r>
              <a:rPr lang="en-US" i="1" dirty="0">
                <a:solidFill>
                  <a:schemeClr val="bg1"/>
                </a:solidFill>
              </a:rPr>
              <a:t>An AI-Based Approach to Crew Scheduling</a:t>
            </a:r>
            <a:r>
              <a:rPr lang="en-US" dirty="0">
                <a:solidFill>
                  <a:schemeClr val="bg1"/>
                </a:solidFill>
              </a:rPr>
              <a:t>, IEEE, 2020.</a:t>
            </a:r>
            <a:endParaRPr lang="en-IN" dirty="0">
              <a:solidFill>
                <a:schemeClr val="bg1"/>
              </a:solidFill>
            </a:endParaRPr>
          </a:p>
        </p:txBody>
      </p:sp>
      <p:sp>
        <p:nvSpPr>
          <p:cNvPr id="23" name="Shape 1">
            <a:extLst>
              <a:ext uri="{FF2B5EF4-FFF2-40B4-BE49-F238E27FC236}">
                <a16:creationId xmlns:a16="http://schemas.microsoft.com/office/drawing/2014/main" id="{43B5D051-8AAC-CFFE-069F-A6F8E8301F56}"/>
              </a:ext>
            </a:extLst>
          </p:cNvPr>
          <p:cNvSpPr/>
          <p:nvPr/>
        </p:nvSpPr>
        <p:spPr>
          <a:xfrm>
            <a:off x="211901" y="4881081"/>
            <a:ext cx="14268188" cy="1407701"/>
          </a:xfrm>
          <a:prstGeom prst="roundRect">
            <a:avLst>
              <a:gd name="adj" fmla="val 7200"/>
            </a:avLst>
          </a:prstGeom>
          <a:solidFill>
            <a:srgbClr val="003180"/>
          </a:solidFill>
          <a:ln w="7620">
            <a:solidFill>
              <a:srgbClr val="194A99"/>
            </a:solidFill>
            <a:prstDash val="solid"/>
          </a:ln>
        </p:spPr>
        <p:txBody>
          <a:bodyPr/>
          <a:lstStyle/>
          <a:p>
            <a:endParaRPr lang="en-IN"/>
          </a:p>
        </p:txBody>
      </p:sp>
      <p:sp>
        <p:nvSpPr>
          <p:cNvPr id="24" name="TextBox 23">
            <a:extLst>
              <a:ext uri="{FF2B5EF4-FFF2-40B4-BE49-F238E27FC236}">
                <a16:creationId xmlns:a16="http://schemas.microsoft.com/office/drawing/2014/main" id="{337AF199-72F8-79E3-966D-E12D33AAB9D7}"/>
              </a:ext>
            </a:extLst>
          </p:cNvPr>
          <p:cNvSpPr txBox="1"/>
          <p:nvPr/>
        </p:nvSpPr>
        <p:spPr>
          <a:xfrm>
            <a:off x="362407" y="4937810"/>
            <a:ext cx="13980910" cy="1200329"/>
          </a:xfrm>
          <a:prstGeom prst="rect">
            <a:avLst/>
          </a:prstGeom>
          <a:noFill/>
        </p:spPr>
        <p:txBody>
          <a:bodyPr wrap="square" rtlCol="0">
            <a:spAutoFit/>
          </a:bodyPr>
          <a:lstStyle/>
          <a:p>
            <a:r>
              <a:rPr lang="en-US" b="1" dirty="0">
                <a:solidFill>
                  <a:schemeClr val="bg1"/>
                </a:solidFill>
              </a:rPr>
              <a:t>3. Models for Vessel Crew Scheduling Problem</a:t>
            </a:r>
            <a:br>
              <a:rPr lang="en-US" dirty="0">
                <a:solidFill>
                  <a:schemeClr val="bg1"/>
                </a:solidFill>
              </a:rPr>
            </a:br>
            <a:r>
              <a:rPr lang="en-US" dirty="0">
                <a:solidFill>
                  <a:schemeClr val="bg1"/>
                </a:solidFill>
              </a:rPr>
              <a:t>This paper explores the crew scheduling challenges in maritime operations, using optimization models to balance cost-effectiveness and regulatory compliance. The research highlights the complexity of maritime crew scheduling and offers models to address these issues.</a:t>
            </a:r>
            <a:br>
              <a:rPr lang="en-US" dirty="0">
                <a:solidFill>
                  <a:schemeClr val="bg1"/>
                </a:solidFill>
              </a:rPr>
            </a:br>
            <a:r>
              <a:rPr lang="en-US" b="1" dirty="0">
                <a:solidFill>
                  <a:schemeClr val="bg1"/>
                </a:solidFill>
              </a:rPr>
              <a:t>Reference</a:t>
            </a:r>
            <a:r>
              <a:rPr lang="en-US" dirty="0">
                <a:solidFill>
                  <a:schemeClr val="bg1"/>
                </a:solidFill>
              </a:rPr>
              <a:t>: University of Strathclyde, </a:t>
            </a:r>
            <a:r>
              <a:rPr lang="en-US" i="1" dirty="0">
                <a:solidFill>
                  <a:schemeClr val="bg1"/>
                </a:solidFill>
              </a:rPr>
              <a:t>Models for Vessel Crew Scheduling Problem</a:t>
            </a:r>
            <a:r>
              <a:rPr lang="en-US" dirty="0">
                <a:solidFill>
                  <a:schemeClr val="bg1"/>
                </a:solidFill>
              </a:rPr>
              <a:t>, 2017.</a:t>
            </a:r>
            <a:endParaRPr lang="en-IN" dirty="0">
              <a:solidFill>
                <a:schemeClr val="bg1"/>
              </a:solidFill>
            </a:endParaRPr>
          </a:p>
        </p:txBody>
      </p:sp>
      <p:sp>
        <p:nvSpPr>
          <p:cNvPr id="25" name="Shape 1">
            <a:extLst>
              <a:ext uri="{FF2B5EF4-FFF2-40B4-BE49-F238E27FC236}">
                <a16:creationId xmlns:a16="http://schemas.microsoft.com/office/drawing/2014/main" id="{C2E4F999-857E-F434-407C-17987681924F}"/>
              </a:ext>
            </a:extLst>
          </p:cNvPr>
          <p:cNvSpPr/>
          <p:nvPr/>
        </p:nvSpPr>
        <p:spPr>
          <a:xfrm>
            <a:off x="189132" y="6636951"/>
            <a:ext cx="14268188" cy="1407701"/>
          </a:xfrm>
          <a:prstGeom prst="roundRect">
            <a:avLst>
              <a:gd name="adj" fmla="val 7200"/>
            </a:avLst>
          </a:prstGeom>
          <a:solidFill>
            <a:srgbClr val="003180"/>
          </a:solidFill>
          <a:ln w="7620">
            <a:solidFill>
              <a:srgbClr val="194A99"/>
            </a:solidFill>
            <a:prstDash val="solid"/>
          </a:ln>
        </p:spPr>
        <p:txBody>
          <a:bodyPr/>
          <a:lstStyle/>
          <a:p>
            <a:endParaRPr lang="en-IN"/>
          </a:p>
        </p:txBody>
      </p:sp>
      <p:sp>
        <p:nvSpPr>
          <p:cNvPr id="26" name="TextBox 25">
            <a:extLst>
              <a:ext uri="{FF2B5EF4-FFF2-40B4-BE49-F238E27FC236}">
                <a16:creationId xmlns:a16="http://schemas.microsoft.com/office/drawing/2014/main" id="{A226F0D2-6174-2AED-BA85-2E7FB4A9703D}"/>
              </a:ext>
            </a:extLst>
          </p:cNvPr>
          <p:cNvSpPr txBox="1"/>
          <p:nvPr/>
        </p:nvSpPr>
        <p:spPr>
          <a:xfrm>
            <a:off x="383546" y="6703606"/>
            <a:ext cx="13980910" cy="1200329"/>
          </a:xfrm>
          <a:prstGeom prst="rect">
            <a:avLst/>
          </a:prstGeom>
          <a:noFill/>
        </p:spPr>
        <p:txBody>
          <a:bodyPr wrap="square" rtlCol="0">
            <a:spAutoFit/>
          </a:bodyPr>
          <a:lstStyle/>
          <a:p>
            <a:r>
              <a:rPr lang="en-US" b="1" dirty="0">
                <a:solidFill>
                  <a:schemeClr val="bg1"/>
                </a:solidFill>
              </a:rPr>
              <a:t>4. Big Data and Artificial Intelligence in the Maritime Industry</a:t>
            </a:r>
            <a:br>
              <a:rPr lang="en-US" dirty="0">
                <a:solidFill>
                  <a:schemeClr val="bg1"/>
                </a:solidFill>
              </a:rPr>
            </a:br>
            <a:r>
              <a:rPr lang="en-US" dirty="0">
                <a:solidFill>
                  <a:schemeClr val="bg1"/>
                </a:solidFill>
              </a:rPr>
              <a:t>The study examines AI-driven solutions in maritime logistics, focusing on the potential of big data and machine learning to improve crew scheduling, traffic management, and vessel performance prediction.</a:t>
            </a:r>
            <a:br>
              <a:rPr lang="en-US" dirty="0">
                <a:solidFill>
                  <a:schemeClr val="bg1"/>
                </a:solidFill>
              </a:rPr>
            </a:br>
            <a:r>
              <a:rPr lang="en-US" b="1" dirty="0">
                <a:solidFill>
                  <a:schemeClr val="bg1"/>
                </a:solidFill>
              </a:rPr>
              <a:t>Reference</a:t>
            </a:r>
            <a:r>
              <a:rPr lang="en-US" dirty="0">
                <a:solidFill>
                  <a:schemeClr val="bg1"/>
                </a:solidFill>
              </a:rPr>
              <a:t>: Z. H. </a:t>
            </a:r>
            <a:r>
              <a:rPr lang="en-US" dirty="0" err="1">
                <a:solidFill>
                  <a:schemeClr val="bg1"/>
                </a:solidFill>
              </a:rPr>
              <a:t>Munim</a:t>
            </a:r>
            <a:r>
              <a:rPr lang="en-US" dirty="0">
                <a:solidFill>
                  <a:schemeClr val="bg1"/>
                </a:solidFill>
              </a:rPr>
              <a:t>, </a:t>
            </a:r>
            <a:r>
              <a:rPr lang="en-US" i="1" dirty="0">
                <a:solidFill>
                  <a:schemeClr val="bg1"/>
                </a:solidFill>
              </a:rPr>
              <a:t>Big Data and AI in Maritime Industry: A Review</a:t>
            </a:r>
            <a:r>
              <a:rPr lang="en-US" dirty="0">
                <a:solidFill>
                  <a:schemeClr val="bg1"/>
                </a:solidFill>
              </a:rPr>
              <a:t>, 2020.</a:t>
            </a:r>
            <a:endParaRPr lang="en-IN" dirty="0">
              <a:solidFill>
                <a:schemeClr val="bg1"/>
              </a:solidFill>
            </a:endParaRPr>
          </a:p>
        </p:txBody>
      </p:sp>
    </p:spTree>
    <p:extLst>
      <p:ext uri="{BB962C8B-B14F-4D97-AF65-F5344CB8AC3E}">
        <p14:creationId xmlns:p14="http://schemas.microsoft.com/office/powerpoint/2010/main" val="4072112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4693682" y="404716"/>
            <a:ext cx="5243036" cy="655439"/>
          </a:xfrm>
          <a:prstGeom prst="rect">
            <a:avLst/>
          </a:prstGeom>
          <a:noFill/>
          <a:ln/>
        </p:spPr>
        <p:txBody>
          <a:bodyPr wrap="none" lIns="0" tIns="0" rIns="0" bIns="0" rtlCol="0" anchor="t"/>
          <a:lstStyle/>
          <a:p>
            <a:pPr marL="0" indent="0">
              <a:lnSpc>
                <a:spcPts val="5150"/>
              </a:lnSpc>
              <a:buNone/>
            </a:pPr>
            <a:r>
              <a:rPr lang="en-US" sz="4100" dirty="0">
                <a:solidFill>
                  <a:srgbClr val="F5F0F0"/>
                </a:solidFill>
                <a:latin typeface="Merriweather" pitchFamily="34" charset="0"/>
                <a:ea typeface="Merriweather" pitchFamily="34" charset="-122"/>
                <a:cs typeface="Merriweather" pitchFamily="34" charset="-120"/>
              </a:rPr>
              <a:t>Literature Review</a:t>
            </a:r>
            <a:endParaRPr lang="en-US" sz="4100" dirty="0"/>
          </a:p>
        </p:txBody>
      </p:sp>
      <p:sp>
        <p:nvSpPr>
          <p:cNvPr id="4" name="Shape 1"/>
          <p:cNvSpPr/>
          <p:nvPr/>
        </p:nvSpPr>
        <p:spPr>
          <a:xfrm>
            <a:off x="145225" y="1195950"/>
            <a:ext cx="14268188" cy="1407701"/>
          </a:xfrm>
          <a:prstGeom prst="roundRect">
            <a:avLst>
              <a:gd name="adj" fmla="val 7200"/>
            </a:avLst>
          </a:prstGeom>
          <a:solidFill>
            <a:srgbClr val="003180"/>
          </a:solidFill>
          <a:ln w="7620">
            <a:solidFill>
              <a:srgbClr val="194A99"/>
            </a:solidFill>
            <a:prstDash val="solid"/>
          </a:ln>
        </p:spPr>
        <p:txBody>
          <a:bodyPr/>
          <a:lstStyle/>
          <a:p>
            <a:endParaRPr lang="en-IN"/>
          </a:p>
        </p:txBody>
      </p:sp>
      <p:sp>
        <p:nvSpPr>
          <p:cNvPr id="18" name="TextBox 17">
            <a:extLst>
              <a:ext uri="{FF2B5EF4-FFF2-40B4-BE49-F238E27FC236}">
                <a16:creationId xmlns:a16="http://schemas.microsoft.com/office/drawing/2014/main" id="{D8E6F6C7-C190-E8F8-18D0-DC987005060E}"/>
              </a:ext>
            </a:extLst>
          </p:cNvPr>
          <p:cNvSpPr txBox="1"/>
          <p:nvPr/>
        </p:nvSpPr>
        <p:spPr>
          <a:xfrm>
            <a:off x="339639" y="1262605"/>
            <a:ext cx="13980910" cy="1200329"/>
          </a:xfrm>
          <a:prstGeom prst="rect">
            <a:avLst/>
          </a:prstGeom>
          <a:noFill/>
        </p:spPr>
        <p:txBody>
          <a:bodyPr wrap="square" rtlCol="0">
            <a:spAutoFit/>
          </a:bodyPr>
          <a:lstStyle/>
          <a:p>
            <a:r>
              <a:rPr lang="en-US" b="1" dirty="0">
                <a:solidFill>
                  <a:schemeClr val="bg1"/>
                </a:solidFill>
              </a:rPr>
              <a:t>5. Traffic Pattern Mining and Forecasting Technologies in Maritime Traffic Networks</a:t>
            </a:r>
            <a:br>
              <a:rPr lang="en-US" dirty="0">
                <a:solidFill>
                  <a:schemeClr val="bg1"/>
                </a:solidFill>
              </a:rPr>
            </a:br>
            <a:r>
              <a:rPr lang="en-US" dirty="0">
                <a:solidFill>
                  <a:schemeClr val="bg1"/>
                </a:solidFill>
              </a:rPr>
              <a:t>This paper investigates AI models for predicting vessel trajectories and traffic patterns, using concurrent computing and machine learning techniques. These models can be applied to optimize vessel scheduling and maritime operations.</a:t>
            </a:r>
            <a:br>
              <a:rPr lang="en-US" dirty="0">
                <a:solidFill>
                  <a:schemeClr val="bg1"/>
                </a:solidFill>
              </a:rPr>
            </a:br>
            <a:r>
              <a:rPr lang="en-US" b="1" dirty="0">
                <a:solidFill>
                  <a:schemeClr val="bg1"/>
                </a:solidFill>
              </a:rPr>
              <a:t>Reference</a:t>
            </a:r>
            <a:r>
              <a:rPr lang="en-US" dirty="0">
                <a:solidFill>
                  <a:schemeClr val="bg1"/>
                </a:solidFill>
              </a:rPr>
              <a:t>: </a:t>
            </a:r>
            <a:r>
              <a:rPr lang="en-US" dirty="0" err="1">
                <a:solidFill>
                  <a:schemeClr val="bg1"/>
                </a:solidFill>
              </a:rPr>
              <a:t>Zhe</a:t>
            </a:r>
            <a:r>
              <a:rPr lang="en-US" dirty="0">
                <a:solidFill>
                  <a:schemeClr val="bg1"/>
                </a:solidFill>
              </a:rPr>
              <a:t> Xiao, </a:t>
            </a:r>
            <a:r>
              <a:rPr lang="en-US" i="1" dirty="0">
                <a:solidFill>
                  <a:schemeClr val="bg1"/>
                </a:solidFill>
              </a:rPr>
              <a:t>Traffic Pattern Mining in Maritime Networks</a:t>
            </a:r>
            <a:r>
              <a:rPr lang="en-US" dirty="0">
                <a:solidFill>
                  <a:schemeClr val="bg1"/>
                </a:solidFill>
              </a:rPr>
              <a:t>, IEEE, 2019.</a:t>
            </a:r>
            <a:endParaRPr lang="en-IN" dirty="0">
              <a:solidFill>
                <a:schemeClr val="bg1"/>
              </a:solidFill>
            </a:endParaRPr>
          </a:p>
        </p:txBody>
      </p:sp>
      <p:sp>
        <p:nvSpPr>
          <p:cNvPr id="21" name="Shape 1">
            <a:extLst>
              <a:ext uri="{FF2B5EF4-FFF2-40B4-BE49-F238E27FC236}">
                <a16:creationId xmlns:a16="http://schemas.microsoft.com/office/drawing/2014/main" id="{70D7F793-D103-67CF-0D8F-A9EE797F2CD5}"/>
              </a:ext>
            </a:extLst>
          </p:cNvPr>
          <p:cNvSpPr/>
          <p:nvPr/>
        </p:nvSpPr>
        <p:spPr>
          <a:xfrm>
            <a:off x="167994" y="2846801"/>
            <a:ext cx="14268188" cy="1495384"/>
          </a:xfrm>
          <a:prstGeom prst="roundRect">
            <a:avLst>
              <a:gd name="adj" fmla="val 7200"/>
            </a:avLst>
          </a:prstGeom>
          <a:solidFill>
            <a:srgbClr val="003180"/>
          </a:solidFill>
          <a:ln w="7620">
            <a:solidFill>
              <a:srgbClr val="194A99"/>
            </a:solidFill>
            <a:prstDash val="solid"/>
          </a:ln>
        </p:spPr>
        <p:txBody>
          <a:bodyPr/>
          <a:lstStyle/>
          <a:p>
            <a:endParaRPr lang="en-IN"/>
          </a:p>
        </p:txBody>
      </p:sp>
      <p:sp>
        <p:nvSpPr>
          <p:cNvPr id="22" name="TextBox 21">
            <a:extLst>
              <a:ext uri="{FF2B5EF4-FFF2-40B4-BE49-F238E27FC236}">
                <a16:creationId xmlns:a16="http://schemas.microsoft.com/office/drawing/2014/main" id="{2E76327A-3B47-DEF1-057A-6A25C1FDA97F}"/>
              </a:ext>
            </a:extLst>
          </p:cNvPr>
          <p:cNvSpPr txBox="1"/>
          <p:nvPr/>
        </p:nvSpPr>
        <p:spPr>
          <a:xfrm>
            <a:off x="267726" y="2896073"/>
            <a:ext cx="13980909" cy="1477328"/>
          </a:xfrm>
          <a:prstGeom prst="rect">
            <a:avLst/>
          </a:prstGeom>
          <a:noFill/>
        </p:spPr>
        <p:txBody>
          <a:bodyPr wrap="square" rtlCol="0">
            <a:spAutoFit/>
          </a:bodyPr>
          <a:lstStyle/>
          <a:p>
            <a:r>
              <a:rPr lang="en-US" b="1" dirty="0">
                <a:solidFill>
                  <a:schemeClr val="bg1"/>
                </a:solidFill>
              </a:rPr>
              <a:t>6. Application of Artificial Intelligence in Maritime Transportation</a:t>
            </a:r>
            <a:br>
              <a:rPr lang="en-US" dirty="0">
                <a:solidFill>
                  <a:schemeClr val="bg1"/>
                </a:solidFill>
              </a:rPr>
            </a:br>
            <a:r>
              <a:rPr lang="en-US" dirty="0">
                <a:solidFill>
                  <a:schemeClr val="bg1"/>
                </a:solidFill>
              </a:rPr>
              <a:t>This paper focuses on the integration of AI techniques into maritime transportation, emphasizing the potential for optimizing operations such as ship trajectory planning, real-time monitoring, and automated collision avoidance. It also explores AI's ability to enhance cargo transportation efficiency through ship-vehicle collaboration and intelligent scheduling.</a:t>
            </a:r>
            <a:br>
              <a:rPr lang="en-US" dirty="0">
                <a:solidFill>
                  <a:schemeClr val="bg1"/>
                </a:solidFill>
              </a:rPr>
            </a:br>
            <a:r>
              <a:rPr lang="en-US" b="1" dirty="0">
                <a:solidFill>
                  <a:schemeClr val="bg1"/>
                </a:solidFill>
              </a:rPr>
              <a:t>Reference</a:t>
            </a:r>
            <a:r>
              <a:rPr lang="en-US" dirty="0">
                <a:solidFill>
                  <a:schemeClr val="bg1"/>
                </a:solidFill>
              </a:rPr>
              <a:t>: Ryan Wen Liu, </a:t>
            </a:r>
            <a:r>
              <a:rPr lang="en-US" i="1" dirty="0">
                <a:solidFill>
                  <a:schemeClr val="bg1"/>
                </a:solidFill>
              </a:rPr>
              <a:t>Application of Artificial Intelligence in Maritime Transportation</a:t>
            </a:r>
            <a:r>
              <a:rPr lang="en-US" dirty="0">
                <a:solidFill>
                  <a:schemeClr val="bg1"/>
                </a:solidFill>
              </a:rPr>
              <a:t>, 2024​</a:t>
            </a:r>
          </a:p>
        </p:txBody>
      </p:sp>
      <p:sp>
        <p:nvSpPr>
          <p:cNvPr id="23" name="Shape 1">
            <a:extLst>
              <a:ext uri="{FF2B5EF4-FFF2-40B4-BE49-F238E27FC236}">
                <a16:creationId xmlns:a16="http://schemas.microsoft.com/office/drawing/2014/main" id="{43B5D051-8AAC-CFFE-069F-A6F8E8301F56}"/>
              </a:ext>
            </a:extLst>
          </p:cNvPr>
          <p:cNvSpPr/>
          <p:nvPr/>
        </p:nvSpPr>
        <p:spPr>
          <a:xfrm>
            <a:off x="145225" y="4523485"/>
            <a:ext cx="14268188" cy="1581093"/>
          </a:xfrm>
          <a:prstGeom prst="roundRect">
            <a:avLst>
              <a:gd name="adj" fmla="val 7200"/>
            </a:avLst>
          </a:prstGeom>
          <a:solidFill>
            <a:srgbClr val="003180"/>
          </a:solidFill>
          <a:ln w="7620">
            <a:solidFill>
              <a:srgbClr val="194A99"/>
            </a:solidFill>
            <a:prstDash val="solid"/>
          </a:ln>
        </p:spPr>
        <p:txBody>
          <a:bodyPr/>
          <a:lstStyle/>
          <a:p>
            <a:endParaRPr lang="en-IN"/>
          </a:p>
        </p:txBody>
      </p:sp>
      <p:sp>
        <p:nvSpPr>
          <p:cNvPr id="24" name="TextBox 23">
            <a:extLst>
              <a:ext uri="{FF2B5EF4-FFF2-40B4-BE49-F238E27FC236}">
                <a16:creationId xmlns:a16="http://schemas.microsoft.com/office/drawing/2014/main" id="{337AF199-72F8-79E3-966D-E12D33AAB9D7}"/>
              </a:ext>
            </a:extLst>
          </p:cNvPr>
          <p:cNvSpPr txBox="1"/>
          <p:nvPr/>
        </p:nvSpPr>
        <p:spPr>
          <a:xfrm>
            <a:off x="244957" y="4627250"/>
            <a:ext cx="13980910" cy="1477328"/>
          </a:xfrm>
          <a:prstGeom prst="rect">
            <a:avLst/>
          </a:prstGeom>
          <a:noFill/>
        </p:spPr>
        <p:txBody>
          <a:bodyPr wrap="square" rtlCol="0">
            <a:spAutoFit/>
          </a:bodyPr>
          <a:lstStyle/>
          <a:p>
            <a:r>
              <a:rPr lang="en-US" b="1" dirty="0">
                <a:solidFill>
                  <a:schemeClr val="bg1"/>
                </a:solidFill>
              </a:rPr>
              <a:t>7. Revolutionizing Marine Traffic Management: A Review of Machine Learning Applications</a:t>
            </a:r>
            <a:br>
              <a:rPr lang="en-US" dirty="0">
                <a:solidFill>
                  <a:schemeClr val="bg1"/>
                </a:solidFill>
              </a:rPr>
            </a:br>
            <a:r>
              <a:rPr lang="en-US" dirty="0">
                <a:solidFill>
                  <a:schemeClr val="bg1"/>
                </a:solidFill>
              </a:rPr>
              <a:t>This review examines the use of machine learning (ML) in marine traffic management, focusing on predictive analytics and its impact on safety and efficiency. By leveraging big data from vessels and environmental conditions, ML models can optimize traffic patterns, reduce congestion, and improve route planning for ships. The paper highlights the potential of ML to revolutionize maritime operations.</a:t>
            </a:r>
            <a:br>
              <a:rPr lang="en-US" dirty="0">
                <a:solidFill>
                  <a:schemeClr val="bg1"/>
                </a:solidFill>
              </a:rPr>
            </a:br>
            <a:r>
              <a:rPr lang="en-US" b="1" dirty="0">
                <a:solidFill>
                  <a:schemeClr val="bg1"/>
                </a:solidFill>
              </a:rPr>
              <a:t>Reference</a:t>
            </a:r>
            <a:r>
              <a:rPr lang="en-US" dirty="0">
                <a:solidFill>
                  <a:schemeClr val="bg1"/>
                </a:solidFill>
              </a:rPr>
              <a:t>: Lech </a:t>
            </a:r>
            <a:r>
              <a:rPr lang="en-US" dirty="0" err="1">
                <a:solidFill>
                  <a:schemeClr val="bg1"/>
                </a:solidFill>
              </a:rPr>
              <a:t>Dorobczyński</a:t>
            </a:r>
            <a:r>
              <a:rPr lang="en-US" dirty="0">
                <a:solidFill>
                  <a:schemeClr val="bg1"/>
                </a:solidFill>
              </a:rPr>
              <a:t>, </a:t>
            </a:r>
            <a:r>
              <a:rPr lang="en-US" i="1" dirty="0">
                <a:solidFill>
                  <a:schemeClr val="bg1"/>
                </a:solidFill>
              </a:rPr>
              <a:t>Revolutionizing Marine Traffic Management with Machine Learning</a:t>
            </a:r>
            <a:r>
              <a:rPr lang="en-US" dirty="0">
                <a:solidFill>
                  <a:schemeClr val="bg1"/>
                </a:solidFill>
              </a:rPr>
              <a:t>, 2023</a:t>
            </a:r>
            <a:endParaRPr lang="en-IN" dirty="0">
              <a:solidFill>
                <a:schemeClr val="bg1"/>
              </a:solidFill>
            </a:endParaRPr>
          </a:p>
        </p:txBody>
      </p:sp>
      <p:sp>
        <p:nvSpPr>
          <p:cNvPr id="25" name="Shape 1">
            <a:extLst>
              <a:ext uri="{FF2B5EF4-FFF2-40B4-BE49-F238E27FC236}">
                <a16:creationId xmlns:a16="http://schemas.microsoft.com/office/drawing/2014/main" id="{C2E4F999-857E-F434-407C-17987681924F}"/>
              </a:ext>
            </a:extLst>
          </p:cNvPr>
          <p:cNvSpPr/>
          <p:nvPr/>
        </p:nvSpPr>
        <p:spPr>
          <a:xfrm>
            <a:off x="181106" y="6337461"/>
            <a:ext cx="14268188" cy="1773925"/>
          </a:xfrm>
          <a:prstGeom prst="roundRect">
            <a:avLst>
              <a:gd name="adj" fmla="val 7200"/>
            </a:avLst>
          </a:prstGeom>
          <a:solidFill>
            <a:srgbClr val="003180"/>
          </a:solidFill>
          <a:ln w="7620">
            <a:solidFill>
              <a:srgbClr val="194A99"/>
            </a:solidFill>
            <a:prstDash val="solid"/>
          </a:ln>
        </p:spPr>
        <p:txBody>
          <a:bodyPr/>
          <a:lstStyle/>
          <a:p>
            <a:endParaRPr lang="en-IN"/>
          </a:p>
        </p:txBody>
      </p:sp>
      <p:sp>
        <p:nvSpPr>
          <p:cNvPr id="26" name="TextBox 25">
            <a:extLst>
              <a:ext uri="{FF2B5EF4-FFF2-40B4-BE49-F238E27FC236}">
                <a16:creationId xmlns:a16="http://schemas.microsoft.com/office/drawing/2014/main" id="{A226F0D2-6174-2AED-BA85-2E7FB4A9703D}"/>
              </a:ext>
            </a:extLst>
          </p:cNvPr>
          <p:cNvSpPr txBox="1"/>
          <p:nvPr/>
        </p:nvSpPr>
        <p:spPr>
          <a:xfrm>
            <a:off x="339639" y="6391930"/>
            <a:ext cx="14096543" cy="1754326"/>
          </a:xfrm>
          <a:prstGeom prst="rect">
            <a:avLst/>
          </a:prstGeom>
          <a:noFill/>
        </p:spPr>
        <p:txBody>
          <a:bodyPr wrap="square" rtlCol="0">
            <a:spAutoFit/>
          </a:bodyPr>
          <a:lstStyle/>
          <a:p>
            <a:r>
              <a:rPr lang="en-IN" dirty="0">
                <a:solidFill>
                  <a:schemeClr val="bg1"/>
                </a:solidFill>
              </a:rPr>
              <a:t>8. </a:t>
            </a:r>
            <a:r>
              <a:rPr lang="en-US" b="1" dirty="0">
                <a:solidFill>
                  <a:schemeClr val="bg1"/>
                </a:solidFill>
              </a:rPr>
              <a:t>AI and Machine Learning in Maritime Logistics</a:t>
            </a:r>
            <a:br>
              <a:rPr lang="en-US" dirty="0">
                <a:solidFill>
                  <a:schemeClr val="bg1"/>
                </a:solidFill>
              </a:rPr>
            </a:br>
            <a:r>
              <a:rPr lang="en-US" dirty="0">
                <a:solidFill>
                  <a:schemeClr val="bg1"/>
                </a:solidFill>
              </a:rPr>
              <a:t>This study examines the role of </a:t>
            </a:r>
            <a:r>
              <a:rPr lang="en-US" b="1" dirty="0">
                <a:solidFill>
                  <a:schemeClr val="bg1"/>
                </a:solidFill>
              </a:rPr>
              <a:t>AI</a:t>
            </a:r>
            <a:r>
              <a:rPr lang="en-US" dirty="0">
                <a:solidFill>
                  <a:schemeClr val="bg1"/>
                </a:solidFill>
              </a:rPr>
              <a:t> and </a:t>
            </a:r>
            <a:r>
              <a:rPr lang="en-US" b="1" dirty="0">
                <a:solidFill>
                  <a:schemeClr val="bg1"/>
                </a:solidFill>
              </a:rPr>
              <a:t>machine learning</a:t>
            </a:r>
            <a:r>
              <a:rPr lang="en-US" dirty="0">
                <a:solidFill>
                  <a:schemeClr val="bg1"/>
                </a:solidFill>
              </a:rPr>
              <a:t> in optimizing various aspects of maritime logistics, particularly focusing on port operations and ship routing. By utilizing </a:t>
            </a:r>
            <a:r>
              <a:rPr lang="en-US" b="1" dirty="0">
                <a:solidFill>
                  <a:schemeClr val="bg1"/>
                </a:solidFill>
              </a:rPr>
              <a:t>real-time Automatic Identification System (AIS)</a:t>
            </a:r>
            <a:r>
              <a:rPr lang="en-US" dirty="0">
                <a:solidFill>
                  <a:schemeClr val="bg1"/>
                </a:solidFill>
              </a:rPr>
              <a:t> data, AI can predict ship routes, optimize cargo handling, and provide dynamic pricing models for freight. The research highlights how integrating big data and machine learning can reduce waiting times, optimize port and ship operations, and improve overall supply chain efficiency.</a:t>
            </a:r>
            <a:br>
              <a:rPr lang="en-US" dirty="0">
                <a:solidFill>
                  <a:schemeClr val="bg1"/>
                </a:solidFill>
              </a:rPr>
            </a:br>
            <a:r>
              <a:rPr lang="en-US" b="1" dirty="0">
                <a:solidFill>
                  <a:schemeClr val="bg1"/>
                </a:solidFill>
              </a:rPr>
              <a:t>Reference</a:t>
            </a:r>
            <a:r>
              <a:rPr lang="en-US" dirty="0">
                <a:solidFill>
                  <a:schemeClr val="bg1"/>
                </a:solidFill>
              </a:rPr>
              <a:t>: H.P. Nguyen, </a:t>
            </a:r>
            <a:r>
              <a:rPr lang="en-US" i="1" dirty="0">
                <a:solidFill>
                  <a:schemeClr val="bg1"/>
                </a:solidFill>
              </a:rPr>
              <a:t>AI and Machine Learning in Maritime Logistics</a:t>
            </a:r>
            <a:r>
              <a:rPr lang="en-US" dirty="0">
                <a:solidFill>
                  <a:schemeClr val="bg1"/>
                </a:solidFill>
              </a:rPr>
              <a:t>, 2023​</a:t>
            </a:r>
            <a:endParaRPr lang="en-IN" dirty="0">
              <a:solidFill>
                <a:schemeClr val="bg1"/>
              </a:solidFill>
            </a:endParaRPr>
          </a:p>
        </p:txBody>
      </p:sp>
    </p:spTree>
    <p:extLst>
      <p:ext uri="{BB962C8B-B14F-4D97-AF65-F5344CB8AC3E}">
        <p14:creationId xmlns:p14="http://schemas.microsoft.com/office/powerpoint/2010/main" val="4102125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48816"/>
            <a:ext cx="5486400" cy="8180784"/>
          </a:xfrm>
          <a:prstGeom prst="rect">
            <a:avLst/>
          </a:prstGeom>
        </p:spPr>
      </p:pic>
      <p:sp>
        <p:nvSpPr>
          <p:cNvPr id="3" name="Text 0"/>
          <p:cNvSpPr/>
          <p:nvPr/>
        </p:nvSpPr>
        <p:spPr>
          <a:xfrm>
            <a:off x="629305" y="881776"/>
            <a:ext cx="6267212" cy="719495"/>
          </a:xfrm>
          <a:prstGeom prst="rect">
            <a:avLst/>
          </a:prstGeom>
          <a:noFill/>
          <a:ln/>
        </p:spPr>
        <p:txBody>
          <a:bodyPr wrap="none" lIns="0" tIns="0" rIns="0" bIns="0" rtlCol="0" anchor="t"/>
          <a:lstStyle/>
          <a:p>
            <a:pPr marL="0" indent="0">
              <a:lnSpc>
                <a:spcPts val="5650"/>
              </a:lnSpc>
              <a:buNone/>
            </a:pPr>
            <a:r>
              <a:rPr lang="en-US" sz="4500" dirty="0">
                <a:solidFill>
                  <a:srgbClr val="F5F0F0"/>
                </a:solidFill>
                <a:latin typeface="Times New Roman" panose="02020603050405020304" pitchFamily="18" charset="0"/>
                <a:ea typeface="Merriweather" pitchFamily="34" charset="-122"/>
                <a:cs typeface="Times New Roman" panose="02020603050405020304" pitchFamily="18" charset="0"/>
              </a:rPr>
              <a:t>Existing Methodology</a:t>
            </a:r>
            <a:endParaRPr lang="en-US" sz="4500" dirty="0">
              <a:latin typeface="Times New Roman" panose="02020603050405020304" pitchFamily="18" charset="0"/>
              <a:cs typeface="Times New Roman" panose="02020603050405020304" pitchFamily="18" charset="0"/>
            </a:endParaRPr>
          </a:p>
        </p:txBody>
      </p:sp>
      <p:sp>
        <p:nvSpPr>
          <p:cNvPr id="4" name="Shape 1"/>
          <p:cNvSpPr/>
          <p:nvPr/>
        </p:nvSpPr>
        <p:spPr>
          <a:xfrm>
            <a:off x="959346" y="1946552"/>
            <a:ext cx="30480" cy="5536168"/>
          </a:xfrm>
          <a:prstGeom prst="roundRect">
            <a:avLst>
              <a:gd name="adj" fmla="val 317286"/>
            </a:avLst>
          </a:prstGeom>
          <a:solidFill>
            <a:srgbClr val="194A99"/>
          </a:solidFill>
          <a:ln/>
        </p:spPr>
        <p:txBody>
          <a:bodyPr/>
          <a:lstStyle/>
          <a:p>
            <a:endParaRPr lang="en-IN"/>
          </a:p>
        </p:txBody>
      </p:sp>
      <p:sp>
        <p:nvSpPr>
          <p:cNvPr id="5" name="Shape 2"/>
          <p:cNvSpPr/>
          <p:nvPr/>
        </p:nvSpPr>
        <p:spPr>
          <a:xfrm>
            <a:off x="1203127" y="2449234"/>
            <a:ext cx="805815" cy="30480"/>
          </a:xfrm>
          <a:prstGeom prst="roundRect">
            <a:avLst>
              <a:gd name="adj" fmla="val 317286"/>
            </a:avLst>
          </a:prstGeom>
          <a:solidFill>
            <a:srgbClr val="194A99"/>
          </a:solidFill>
          <a:ln/>
        </p:spPr>
        <p:txBody>
          <a:bodyPr/>
          <a:lstStyle/>
          <a:p>
            <a:endParaRPr lang="en-IN"/>
          </a:p>
        </p:txBody>
      </p:sp>
      <p:sp>
        <p:nvSpPr>
          <p:cNvPr id="6" name="Shape 3"/>
          <p:cNvSpPr/>
          <p:nvPr/>
        </p:nvSpPr>
        <p:spPr>
          <a:xfrm>
            <a:off x="715566" y="2205513"/>
            <a:ext cx="518041" cy="518041"/>
          </a:xfrm>
          <a:prstGeom prst="roundRect">
            <a:avLst>
              <a:gd name="adj" fmla="val 18668"/>
            </a:avLst>
          </a:prstGeom>
          <a:solidFill>
            <a:srgbClr val="003180"/>
          </a:solidFill>
          <a:ln w="7620">
            <a:solidFill>
              <a:srgbClr val="194A99"/>
            </a:solidFill>
            <a:prstDash val="solid"/>
          </a:ln>
        </p:spPr>
        <p:txBody>
          <a:bodyPr/>
          <a:lstStyle/>
          <a:p>
            <a:endParaRPr lang="en-IN"/>
          </a:p>
        </p:txBody>
      </p:sp>
      <p:sp>
        <p:nvSpPr>
          <p:cNvPr id="7" name="Text 4"/>
          <p:cNvSpPr/>
          <p:nvPr/>
        </p:nvSpPr>
        <p:spPr>
          <a:xfrm>
            <a:off x="898565" y="2291834"/>
            <a:ext cx="151924" cy="345400"/>
          </a:xfrm>
          <a:prstGeom prst="rect">
            <a:avLst/>
          </a:prstGeom>
          <a:noFill/>
          <a:ln/>
        </p:spPr>
        <p:txBody>
          <a:bodyPr wrap="none" lIns="0" tIns="0" rIns="0" bIns="0" rtlCol="0" anchor="t"/>
          <a:lstStyle/>
          <a:p>
            <a:pPr marL="0" indent="0" algn="ctr">
              <a:lnSpc>
                <a:spcPts val="2700"/>
              </a:lnSpc>
              <a:buNone/>
            </a:pPr>
            <a:r>
              <a:rPr lang="en-US" sz="2700" dirty="0">
                <a:solidFill>
                  <a:srgbClr val="E2E6E9"/>
                </a:solidFill>
                <a:latin typeface="Merriweather" pitchFamily="34" charset="0"/>
                <a:ea typeface="Merriweather" pitchFamily="34" charset="-122"/>
                <a:cs typeface="Merriweather" pitchFamily="34" charset="-120"/>
              </a:rPr>
              <a:t>1</a:t>
            </a:r>
            <a:endParaRPr lang="en-US" sz="2700" dirty="0"/>
          </a:p>
        </p:txBody>
      </p:sp>
      <p:sp>
        <p:nvSpPr>
          <p:cNvPr id="8" name="Text 5"/>
          <p:cNvSpPr/>
          <p:nvPr/>
        </p:nvSpPr>
        <p:spPr>
          <a:xfrm>
            <a:off x="2240935" y="2176700"/>
            <a:ext cx="3555206" cy="359688"/>
          </a:xfrm>
          <a:prstGeom prst="rect">
            <a:avLst/>
          </a:prstGeom>
          <a:noFill/>
          <a:ln/>
        </p:spPr>
        <p:txBody>
          <a:bodyPr wrap="none" lIns="0" tIns="0" rIns="0" bIns="0" rtlCol="0" anchor="t"/>
          <a:lstStyle/>
          <a:p>
            <a:pPr marL="0" indent="0" algn="l">
              <a:lnSpc>
                <a:spcPts val="2800"/>
              </a:lnSpc>
              <a:buNone/>
            </a:pPr>
            <a:r>
              <a:rPr lang="en-US" sz="2250" dirty="0">
                <a:solidFill>
                  <a:srgbClr val="E2E6E9"/>
                </a:solidFill>
                <a:latin typeface="Times New Roman" panose="02020603050405020304" pitchFamily="18" charset="0"/>
                <a:ea typeface="Merriweather" pitchFamily="34" charset="-122"/>
                <a:cs typeface="Times New Roman" panose="02020603050405020304" pitchFamily="18" charset="0"/>
              </a:rPr>
              <a:t>Manual crew assignment</a:t>
            </a:r>
            <a:endParaRPr lang="en-US" sz="2250" dirty="0">
              <a:latin typeface="Times New Roman" panose="02020603050405020304" pitchFamily="18" charset="0"/>
              <a:cs typeface="Times New Roman" panose="02020603050405020304" pitchFamily="18" charset="0"/>
            </a:endParaRPr>
          </a:p>
        </p:txBody>
      </p:sp>
      <p:sp>
        <p:nvSpPr>
          <p:cNvPr id="9" name="Text 6"/>
          <p:cNvSpPr/>
          <p:nvPr/>
        </p:nvSpPr>
        <p:spPr>
          <a:xfrm>
            <a:off x="2240935" y="2674501"/>
            <a:ext cx="5920740" cy="368379"/>
          </a:xfrm>
          <a:prstGeom prst="rect">
            <a:avLst/>
          </a:prstGeom>
          <a:noFill/>
          <a:ln/>
        </p:spPr>
        <p:txBody>
          <a:bodyPr wrap="none" lIns="0" tIns="0" rIns="0" bIns="0" rtlCol="0" anchor="t"/>
          <a:lstStyle/>
          <a:p>
            <a:pPr marL="0" indent="0" algn="l">
              <a:lnSpc>
                <a:spcPts val="2900"/>
              </a:lnSpc>
              <a:buNone/>
            </a:pPr>
            <a:r>
              <a:rPr lang="en-US" sz="1800" dirty="0">
                <a:solidFill>
                  <a:srgbClr val="E2E6E9"/>
                </a:solidFill>
                <a:latin typeface="Times New Roman" panose="02020603050405020304" pitchFamily="18" charset="0"/>
                <a:ea typeface="Merriweather" pitchFamily="34" charset="-122"/>
                <a:cs typeface="Times New Roman" panose="02020603050405020304" pitchFamily="18" charset="0"/>
              </a:rPr>
              <a:t>Leads to delays and compliance risks</a:t>
            </a:r>
            <a:r>
              <a:rPr lang="en-US" sz="1800" dirty="0">
                <a:solidFill>
                  <a:srgbClr val="E2E6E9"/>
                </a:solidFill>
                <a:latin typeface="Merriweather" pitchFamily="34" charset="0"/>
                <a:ea typeface="Merriweather" pitchFamily="34" charset="-122"/>
                <a:cs typeface="Merriweather" pitchFamily="34" charset="-120"/>
              </a:rPr>
              <a:t>.</a:t>
            </a:r>
            <a:endParaRPr lang="en-US" sz="1800" dirty="0"/>
          </a:p>
        </p:txBody>
      </p:sp>
      <p:sp>
        <p:nvSpPr>
          <p:cNvPr id="10" name="Shape 7"/>
          <p:cNvSpPr/>
          <p:nvPr/>
        </p:nvSpPr>
        <p:spPr>
          <a:xfrm>
            <a:off x="1203127" y="4005857"/>
            <a:ext cx="805815" cy="30480"/>
          </a:xfrm>
          <a:prstGeom prst="roundRect">
            <a:avLst>
              <a:gd name="adj" fmla="val 317286"/>
            </a:avLst>
          </a:prstGeom>
          <a:solidFill>
            <a:srgbClr val="194A99"/>
          </a:solidFill>
          <a:ln/>
        </p:spPr>
        <p:txBody>
          <a:bodyPr/>
          <a:lstStyle/>
          <a:p>
            <a:endParaRPr lang="en-IN"/>
          </a:p>
        </p:txBody>
      </p:sp>
      <p:sp>
        <p:nvSpPr>
          <p:cNvPr id="11" name="Shape 8"/>
          <p:cNvSpPr/>
          <p:nvPr/>
        </p:nvSpPr>
        <p:spPr>
          <a:xfrm>
            <a:off x="715566" y="3762136"/>
            <a:ext cx="518041" cy="518041"/>
          </a:xfrm>
          <a:prstGeom prst="roundRect">
            <a:avLst>
              <a:gd name="adj" fmla="val 18668"/>
            </a:avLst>
          </a:prstGeom>
          <a:solidFill>
            <a:srgbClr val="003180"/>
          </a:solidFill>
          <a:ln w="7620">
            <a:solidFill>
              <a:srgbClr val="194A99"/>
            </a:solidFill>
            <a:prstDash val="solid"/>
          </a:ln>
        </p:spPr>
        <p:txBody>
          <a:bodyPr/>
          <a:lstStyle/>
          <a:p>
            <a:endParaRPr lang="en-IN"/>
          </a:p>
        </p:txBody>
      </p:sp>
      <p:sp>
        <p:nvSpPr>
          <p:cNvPr id="12" name="Text 9"/>
          <p:cNvSpPr/>
          <p:nvPr/>
        </p:nvSpPr>
        <p:spPr>
          <a:xfrm>
            <a:off x="871300" y="3848457"/>
            <a:ext cx="206573" cy="345400"/>
          </a:xfrm>
          <a:prstGeom prst="rect">
            <a:avLst/>
          </a:prstGeom>
          <a:noFill/>
          <a:ln/>
        </p:spPr>
        <p:txBody>
          <a:bodyPr wrap="none" lIns="0" tIns="0" rIns="0" bIns="0" rtlCol="0" anchor="t"/>
          <a:lstStyle/>
          <a:p>
            <a:pPr marL="0" indent="0" algn="ctr">
              <a:lnSpc>
                <a:spcPts val="2700"/>
              </a:lnSpc>
              <a:buNone/>
            </a:pPr>
            <a:r>
              <a:rPr lang="en-US" sz="2700" dirty="0">
                <a:solidFill>
                  <a:srgbClr val="E2E6E9"/>
                </a:solidFill>
                <a:latin typeface="Merriweather" pitchFamily="34" charset="0"/>
                <a:ea typeface="Merriweather" pitchFamily="34" charset="-122"/>
                <a:cs typeface="Merriweather" pitchFamily="34" charset="-120"/>
              </a:rPr>
              <a:t>2</a:t>
            </a:r>
            <a:endParaRPr lang="en-US" sz="2700" dirty="0"/>
          </a:p>
        </p:txBody>
      </p:sp>
      <p:sp>
        <p:nvSpPr>
          <p:cNvPr id="13" name="Text 10"/>
          <p:cNvSpPr/>
          <p:nvPr/>
        </p:nvSpPr>
        <p:spPr>
          <a:xfrm>
            <a:off x="2240935" y="3733323"/>
            <a:ext cx="5659993" cy="359688"/>
          </a:xfrm>
          <a:prstGeom prst="rect">
            <a:avLst/>
          </a:prstGeom>
          <a:noFill/>
          <a:ln/>
        </p:spPr>
        <p:txBody>
          <a:bodyPr wrap="none" lIns="0" tIns="0" rIns="0" bIns="0" rtlCol="0" anchor="t"/>
          <a:lstStyle/>
          <a:p>
            <a:pPr marL="0" indent="0" algn="l">
              <a:lnSpc>
                <a:spcPts val="2800"/>
              </a:lnSpc>
              <a:buNone/>
            </a:pPr>
            <a:r>
              <a:rPr lang="en-US" sz="2250" dirty="0">
                <a:solidFill>
                  <a:srgbClr val="E2E6E9"/>
                </a:solidFill>
                <a:latin typeface="Times New Roman" panose="02020603050405020304" pitchFamily="18" charset="0"/>
                <a:ea typeface="Merriweather" pitchFamily="34" charset="-122"/>
                <a:cs typeface="Times New Roman" panose="02020603050405020304" pitchFamily="18" charset="0"/>
              </a:rPr>
              <a:t>Crew availability and readiness tracking</a:t>
            </a:r>
            <a:endParaRPr lang="en-US" sz="2250" dirty="0">
              <a:latin typeface="Times New Roman" panose="02020603050405020304" pitchFamily="18" charset="0"/>
              <a:cs typeface="Times New Roman" panose="02020603050405020304" pitchFamily="18" charset="0"/>
            </a:endParaRPr>
          </a:p>
        </p:txBody>
      </p:sp>
      <p:sp>
        <p:nvSpPr>
          <p:cNvPr id="14" name="Text 11"/>
          <p:cNvSpPr/>
          <p:nvPr/>
        </p:nvSpPr>
        <p:spPr>
          <a:xfrm>
            <a:off x="2240935" y="4231124"/>
            <a:ext cx="5920740" cy="368379"/>
          </a:xfrm>
          <a:prstGeom prst="rect">
            <a:avLst/>
          </a:prstGeom>
          <a:noFill/>
          <a:ln/>
        </p:spPr>
        <p:txBody>
          <a:bodyPr wrap="none" lIns="0" tIns="0" rIns="0" bIns="0" rtlCol="0" anchor="t"/>
          <a:lstStyle/>
          <a:p>
            <a:pPr marL="0" indent="0" algn="l">
              <a:lnSpc>
                <a:spcPts val="2900"/>
              </a:lnSpc>
              <a:buNone/>
            </a:pPr>
            <a:r>
              <a:rPr lang="en-US" sz="1800" dirty="0">
                <a:solidFill>
                  <a:srgbClr val="E2E6E9"/>
                </a:solidFill>
                <a:latin typeface="Times New Roman" panose="02020603050405020304" pitchFamily="18" charset="0"/>
                <a:ea typeface="Merriweather" pitchFamily="34" charset="-122"/>
                <a:cs typeface="Times New Roman" panose="02020603050405020304" pitchFamily="18" charset="0"/>
              </a:rPr>
              <a:t>Handled via outdated methods.</a:t>
            </a:r>
            <a:endParaRPr lang="en-US" sz="1800" dirty="0">
              <a:latin typeface="Times New Roman" panose="02020603050405020304" pitchFamily="18" charset="0"/>
              <a:cs typeface="Times New Roman" panose="02020603050405020304" pitchFamily="18" charset="0"/>
            </a:endParaRPr>
          </a:p>
        </p:txBody>
      </p:sp>
      <p:sp>
        <p:nvSpPr>
          <p:cNvPr id="15" name="Shape 12"/>
          <p:cNvSpPr/>
          <p:nvPr/>
        </p:nvSpPr>
        <p:spPr>
          <a:xfrm>
            <a:off x="1203127" y="5562480"/>
            <a:ext cx="805815" cy="30480"/>
          </a:xfrm>
          <a:prstGeom prst="roundRect">
            <a:avLst>
              <a:gd name="adj" fmla="val 317286"/>
            </a:avLst>
          </a:prstGeom>
          <a:solidFill>
            <a:srgbClr val="194A99"/>
          </a:solidFill>
          <a:ln/>
        </p:spPr>
        <p:txBody>
          <a:bodyPr/>
          <a:lstStyle/>
          <a:p>
            <a:endParaRPr lang="en-IN"/>
          </a:p>
        </p:txBody>
      </p:sp>
      <p:sp>
        <p:nvSpPr>
          <p:cNvPr id="16" name="Shape 13"/>
          <p:cNvSpPr/>
          <p:nvPr/>
        </p:nvSpPr>
        <p:spPr>
          <a:xfrm>
            <a:off x="715566" y="5318760"/>
            <a:ext cx="518041" cy="518041"/>
          </a:xfrm>
          <a:prstGeom prst="roundRect">
            <a:avLst>
              <a:gd name="adj" fmla="val 18668"/>
            </a:avLst>
          </a:prstGeom>
          <a:solidFill>
            <a:srgbClr val="003180"/>
          </a:solidFill>
          <a:ln w="7620">
            <a:solidFill>
              <a:srgbClr val="194A99"/>
            </a:solidFill>
            <a:prstDash val="solid"/>
          </a:ln>
        </p:spPr>
        <p:txBody>
          <a:bodyPr/>
          <a:lstStyle/>
          <a:p>
            <a:endParaRPr lang="en-IN"/>
          </a:p>
        </p:txBody>
      </p:sp>
      <p:sp>
        <p:nvSpPr>
          <p:cNvPr id="17" name="Text 14"/>
          <p:cNvSpPr/>
          <p:nvPr/>
        </p:nvSpPr>
        <p:spPr>
          <a:xfrm>
            <a:off x="877848" y="5405080"/>
            <a:ext cx="193358" cy="345400"/>
          </a:xfrm>
          <a:prstGeom prst="rect">
            <a:avLst/>
          </a:prstGeom>
          <a:noFill/>
          <a:ln/>
        </p:spPr>
        <p:txBody>
          <a:bodyPr wrap="none" lIns="0" tIns="0" rIns="0" bIns="0" rtlCol="0" anchor="t"/>
          <a:lstStyle/>
          <a:p>
            <a:pPr marL="0" indent="0" algn="ctr">
              <a:lnSpc>
                <a:spcPts val="2700"/>
              </a:lnSpc>
              <a:buNone/>
            </a:pPr>
            <a:r>
              <a:rPr lang="en-US" sz="2700" dirty="0">
                <a:solidFill>
                  <a:srgbClr val="E2E6E9"/>
                </a:solidFill>
                <a:latin typeface="Merriweather" pitchFamily="34" charset="0"/>
                <a:ea typeface="Merriweather" pitchFamily="34" charset="-122"/>
                <a:cs typeface="Merriweather" pitchFamily="34" charset="-120"/>
              </a:rPr>
              <a:t>3</a:t>
            </a:r>
            <a:endParaRPr lang="en-US" sz="2700" dirty="0"/>
          </a:p>
        </p:txBody>
      </p:sp>
      <p:sp>
        <p:nvSpPr>
          <p:cNvPr id="18" name="Text 15"/>
          <p:cNvSpPr/>
          <p:nvPr/>
        </p:nvSpPr>
        <p:spPr>
          <a:xfrm>
            <a:off x="2240935" y="5289946"/>
            <a:ext cx="5920740" cy="719376"/>
          </a:xfrm>
          <a:prstGeom prst="rect">
            <a:avLst/>
          </a:prstGeom>
          <a:noFill/>
          <a:ln/>
        </p:spPr>
        <p:txBody>
          <a:bodyPr wrap="square" lIns="0" tIns="0" rIns="0" bIns="0" rtlCol="0" anchor="t"/>
          <a:lstStyle/>
          <a:p>
            <a:pPr marL="0" indent="0" algn="l">
              <a:lnSpc>
                <a:spcPts val="2800"/>
              </a:lnSpc>
              <a:buNone/>
            </a:pPr>
            <a:r>
              <a:rPr lang="en-US" sz="2250" dirty="0">
                <a:solidFill>
                  <a:srgbClr val="E2E6E9"/>
                </a:solidFill>
                <a:latin typeface="Times New Roman" panose="02020603050405020304" pitchFamily="18" charset="0"/>
                <a:ea typeface="Merriweather" pitchFamily="34" charset="-122"/>
                <a:cs typeface="Times New Roman" panose="02020603050405020304" pitchFamily="18" charset="0"/>
              </a:rPr>
              <a:t>Reliance on multiple disconnected systems</a:t>
            </a:r>
            <a:endParaRPr lang="en-US" sz="2250" dirty="0">
              <a:latin typeface="Times New Roman" panose="02020603050405020304" pitchFamily="18" charset="0"/>
              <a:cs typeface="Times New Roman" panose="02020603050405020304" pitchFamily="18" charset="0"/>
            </a:endParaRPr>
          </a:p>
        </p:txBody>
      </p:sp>
      <p:sp>
        <p:nvSpPr>
          <p:cNvPr id="19" name="Text 16"/>
          <p:cNvSpPr/>
          <p:nvPr/>
        </p:nvSpPr>
        <p:spPr>
          <a:xfrm>
            <a:off x="2240935" y="6009322"/>
            <a:ext cx="5920740" cy="1105138"/>
          </a:xfrm>
          <a:prstGeom prst="rect">
            <a:avLst/>
          </a:prstGeom>
          <a:noFill/>
          <a:ln/>
        </p:spPr>
        <p:txBody>
          <a:bodyPr wrap="square" lIns="0" tIns="0" rIns="0" bIns="0" rtlCol="0" anchor="t"/>
          <a:lstStyle/>
          <a:p>
            <a:pPr marL="0" indent="0" algn="l">
              <a:lnSpc>
                <a:spcPts val="2900"/>
              </a:lnSpc>
              <a:buNone/>
            </a:pPr>
            <a:r>
              <a:rPr lang="en-US" sz="1800" dirty="0">
                <a:solidFill>
                  <a:srgbClr val="E2E6E9"/>
                </a:solidFill>
                <a:latin typeface="Times New Roman" panose="02020603050405020304" pitchFamily="18" charset="0"/>
                <a:ea typeface="Merriweather" pitchFamily="34" charset="-122"/>
                <a:cs typeface="Times New Roman" panose="02020603050405020304" pitchFamily="18" charset="0"/>
              </a:rPr>
              <a:t>Ship owners and management employees rely on multiple disconnected systems to track cargo and voyage status.</a:t>
            </a:r>
            <a:endParaRPr 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18" name="Rectangle: Rounded Corners 17">
            <a:extLst>
              <a:ext uri="{FF2B5EF4-FFF2-40B4-BE49-F238E27FC236}">
                <a16:creationId xmlns:a16="http://schemas.microsoft.com/office/drawing/2014/main" id="{46CBED6D-8CAD-2804-09AD-D1B36E88F39F}"/>
              </a:ext>
            </a:extLst>
          </p:cNvPr>
          <p:cNvSpPr/>
          <p:nvPr/>
        </p:nvSpPr>
        <p:spPr>
          <a:xfrm>
            <a:off x="6113476" y="3994037"/>
            <a:ext cx="4045030" cy="2404322"/>
          </a:xfrm>
          <a:prstGeom prst="roundRect">
            <a:avLst/>
          </a:prstGeom>
          <a:solidFill>
            <a:srgbClr val="002060"/>
          </a:solidFill>
          <a:effectLst>
            <a:glow rad="2286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702C39E3-F2C4-C1EA-B373-3F9EEAF2139D}"/>
              </a:ext>
            </a:extLst>
          </p:cNvPr>
          <p:cNvSpPr txBox="1"/>
          <p:nvPr/>
        </p:nvSpPr>
        <p:spPr>
          <a:xfrm>
            <a:off x="6258012" y="4007026"/>
            <a:ext cx="3944965" cy="2308324"/>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Management companies can view ship status, cargo details, and voyage ETA. Crew members can update readiness, check assignments, and manage contracts.</a:t>
            </a:r>
            <a:endParaRPr lang="en-IN" sz="2400" dirty="0">
              <a:solidFill>
                <a:schemeClr val="bg1"/>
              </a:solidFill>
              <a:latin typeface="Times New Roman" panose="02020603050405020304" pitchFamily="18" charset="0"/>
              <a:cs typeface="Times New Roman" panose="02020603050405020304" pitchFamily="18" charset="0"/>
            </a:endParaRPr>
          </a:p>
        </p:txBody>
      </p:sp>
      <p:sp>
        <p:nvSpPr>
          <p:cNvPr id="16" name="Rectangle: Rounded Corners 15">
            <a:extLst>
              <a:ext uri="{FF2B5EF4-FFF2-40B4-BE49-F238E27FC236}">
                <a16:creationId xmlns:a16="http://schemas.microsoft.com/office/drawing/2014/main" id="{25A8C168-CD42-728A-D4BF-10A15DEF737D}"/>
              </a:ext>
            </a:extLst>
          </p:cNvPr>
          <p:cNvSpPr/>
          <p:nvPr/>
        </p:nvSpPr>
        <p:spPr>
          <a:xfrm>
            <a:off x="8499901" y="1158464"/>
            <a:ext cx="5982534" cy="1595995"/>
          </a:xfrm>
          <a:prstGeom prst="roundRect">
            <a:avLst/>
          </a:prstGeom>
          <a:solidFill>
            <a:srgbClr val="002060"/>
          </a:solidFill>
          <a:effectLst>
            <a:glow rad="2286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Rounded Corners 14">
            <a:extLst>
              <a:ext uri="{FF2B5EF4-FFF2-40B4-BE49-F238E27FC236}">
                <a16:creationId xmlns:a16="http://schemas.microsoft.com/office/drawing/2014/main" id="{F5AD7665-32E9-6138-2D04-786632479CA2}"/>
              </a:ext>
            </a:extLst>
          </p:cNvPr>
          <p:cNvSpPr/>
          <p:nvPr/>
        </p:nvSpPr>
        <p:spPr>
          <a:xfrm>
            <a:off x="10701755" y="3209926"/>
            <a:ext cx="3829050" cy="5019674"/>
          </a:xfrm>
          <a:prstGeom prst="roundRect">
            <a:avLst/>
          </a:prstGeom>
          <a:solidFill>
            <a:srgbClr val="002060"/>
          </a:solidFill>
          <a:effectLst>
            <a:glow rad="2286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ext 0"/>
          <p:cNvSpPr/>
          <p:nvPr/>
        </p:nvSpPr>
        <p:spPr>
          <a:xfrm>
            <a:off x="688836" y="426272"/>
            <a:ext cx="7045643" cy="771525"/>
          </a:xfrm>
          <a:prstGeom prst="rect">
            <a:avLst/>
          </a:prstGeom>
          <a:noFill/>
          <a:ln/>
        </p:spPr>
        <p:txBody>
          <a:bodyPr wrap="none" lIns="0" tIns="0" rIns="0" bIns="0" rtlCol="0" anchor="t"/>
          <a:lstStyle/>
          <a:p>
            <a:pPr marL="0" indent="0">
              <a:lnSpc>
                <a:spcPts val="6050"/>
              </a:lnSpc>
              <a:buNone/>
            </a:pPr>
            <a:r>
              <a:rPr lang="en-US" sz="4850" dirty="0">
                <a:solidFill>
                  <a:srgbClr val="F5F0F0"/>
                </a:solidFill>
                <a:latin typeface="Merriweather" pitchFamily="34" charset="0"/>
                <a:ea typeface="Merriweather" pitchFamily="34" charset="-122"/>
                <a:cs typeface="Merriweather" pitchFamily="34" charset="-120"/>
              </a:rPr>
              <a:t>Proposed Methodology</a:t>
            </a:r>
            <a:endParaRPr lang="en-US" sz="4850" dirty="0"/>
          </a:p>
        </p:txBody>
      </p:sp>
      <p:sp>
        <p:nvSpPr>
          <p:cNvPr id="3" name="Text 1"/>
          <p:cNvSpPr/>
          <p:nvPr/>
        </p:nvSpPr>
        <p:spPr>
          <a:xfrm>
            <a:off x="1242029" y="2620915"/>
            <a:ext cx="3491389" cy="385763"/>
          </a:xfrm>
          <a:prstGeom prst="rect">
            <a:avLst/>
          </a:prstGeom>
          <a:noFill/>
          <a:ln/>
        </p:spPr>
        <p:txBody>
          <a:bodyPr wrap="none" lIns="0" tIns="0" rIns="0" bIns="0" rtlCol="0" anchor="t"/>
          <a:lstStyle/>
          <a:p>
            <a:pPr marL="0" indent="0">
              <a:lnSpc>
                <a:spcPts val="3000"/>
              </a:lnSpc>
              <a:buNone/>
            </a:pPr>
            <a:r>
              <a:rPr lang="en-US" sz="2400" dirty="0">
                <a:solidFill>
                  <a:srgbClr val="F5F0F0"/>
                </a:solidFill>
                <a:latin typeface="Merriweather" pitchFamily="34" charset="0"/>
                <a:ea typeface="Merriweather" pitchFamily="34" charset="-122"/>
                <a:cs typeface="Merriweather" pitchFamily="34" charset="-120"/>
              </a:rPr>
              <a:t>Centralized Web Portal</a:t>
            </a:r>
            <a:endParaRPr lang="en-US" sz="2400" dirty="0"/>
          </a:p>
        </p:txBody>
      </p:sp>
      <p:sp>
        <p:nvSpPr>
          <p:cNvPr id="4" name="Text 2"/>
          <p:cNvSpPr/>
          <p:nvPr/>
        </p:nvSpPr>
        <p:spPr>
          <a:xfrm>
            <a:off x="8641672" y="1463445"/>
            <a:ext cx="5828943" cy="1580198"/>
          </a:xfrm>
          <a:prstGeom prst="rect">
            <a:avLst/>
          </a:prstGeom>
          <a:noFill/>
          <a:ln/>
        </p:spPr>
        <p:txBody>
          <a:bodyPr wrap="square" lIns="0" tIns="0" rIns="0" bIns="0" rtlCol="0" anchor="t"/>
          <a:lstStyle/>
          <a:p>
            <a:pPr marL="0" indent="0">
              <a:lnSpc>
                <a:spcPts val="3100"/>
              </a:lnSpc>
              <a:buNone/>
            </a:pPr>
            <a:r>
              <a:rPr lang="en-US" sz="2400" dirty="0">
                <a:solidFill>
                  <a:srgbClr val="E2E6E9"/>
                </a:solidFill>
                <a:latin typeface="Times New Roman" panose="02020603050405020304" pitchFamily="18" charset="0"/>
                <a:ea typeface="Merriweather" pitchFamily="34" charset="-122"/>
                <a:cs typeface="Times New Roman" panose="02020603050405020304" pitchFamily="18" charset="0"/>
              </a:rPr>
              <a:t>Separate dashboards for ship owners, crew members, management company employees, and ships.</a:t>
            </a:r>
            <a:endParaRPr lang="en-US" sz="2400" dirty="0">
              <a:latin typeface="Times New Roman" panose="02020603050405020304" pitchFamily="18" charset="0"/>
              <a:cs typeface="Times New Roman" panose="02020603050405020304" pitchFamily="18" charset="0"/>
            </a:endParaRPr>
          </a:p>
        </p:txBody>
      </p:sp>
      <p:sp>
        <p:nvSpPr>
          <p:cNvPr id="5" name="Text 3"/>
          <p:cNvSpPr/>
          <p:nvPr/>
        </p:nvSpPr>
        <p:spPr>
          <a:xfrm>
            <a:off x="1248220" y="7156141"/>
            <a:ext cx="4045029" cy="385763"/>
          </a:xfrm>
          <a:prstGeom prst="rect">
            <a:avLst/>
          </a:prstGeom>
          <a:noFill/>
          <a:ln/>
        </p:spPr>
        <p:txBody>
          <a:bodyPr wrap="none" lIns="0" tIns="0" rIns="0" bIns="0" rtlCol="0" anchor="t"/>
          <a:lstStyle/>
          <a:p>
            <a:pPr marL="0" indent="0">
              <a:lnSpc>
                <a:spcPts val="3000"/>
              </a:lnSpc>
              <a:buNone/>
            </a:pPr>
            <a:r>
              <a:rPr lang="en-US" sz="2400" dirty="0">
                <a:solidFill>
                  <a:srgbClr val="F5F0F0"/>
                </a:solidFill>
                <a:latin typeface="Merriweather" pitchFamily="34" charset="0"/>
                <a:ea typeface="Merriweather" pitchFamily="34" charset="-122"/>
                <a:cs typeface="Merriweather" pitchFamily="34" charset="-120"/>
              </a:rPr>
              <a:t>AI-Based Cargo Prediction</a:t>
            </a:r>
            <a:endParaRPr lang="en-US" sz="2400" dirty="0"/>
          </a:p>
        </p:txBody>
      </p:sp>
      <p:sp>
        <p:nvSpPr>
          <p:cNvPr id="6" name="Text 4"/>
          <p:cNvSpPr/>
          <p:nvPr/>
        </p:nvSpPr>
        <p:spPr>
          <a:xfrm>
            <a:off x="11035436" y="3682879"/>
            <a:ext cx="3446264" cy="4713004"/>
          </a:xfrm>
          <a:prstGeom prst="rect">
            <a:avLst/>
          </a:prstGeom>
          <a:noFill/>
          <a:ln/>
        </p:spPr>
        <p:txBody>
          <a:bodyPr wrap="square" lIns="0" tIns="0" rIns="0" bIns="0" rtlCol="0" anchor="t"/>
          <a:lstStyle/>
          <a:p>
            <a:pPr marL="0" indent="0">
              <a:lnSpc>
                <a:spcPts val="3100"/>
              </a:lnSpc>
              <a:buNone/>
            </a:pPr>
            <a:r>
              <a:rPr lang="en-US" sz="2400" dirty="0">
                <a:solidFill>
                  <a:srgbClr val="E2E6E9"/>
                </a:solidFill>
                <a:latin typeface="Times New Roman" panose="02020603050405020304" pitchFamily="18" charset="0"/>
                <a:ea typeface="Merriweather" pitchFamily="34" charset="-122"/>
                <a:cs typeface="Times New Roman" panose="02020603050405020304" pitchFamily="18" charset="0"/>
              </a:rPr>
              <a:t>The system uses machine learning algorithms to predict optimal cargo capacity based on historical data, and operational requirements. This feature ensures crew efficiency and minimizes over or </a:t>
            </a:r>
            <a:r>
              <a:rPr lang="en-US" sz="2400" dirty="0" err="1">
                <a:solidFill>
                  <a:srgbClr val="E2E6E9"/>
                </a:solidFill>
                <a:latin typeface="Times New Roman" panose="02020603050405020304" pitchFamily="18" charset="0"/>
                <a:ea typeface="Merriweather" pitchFamily="34" charset="-122"/>
                <a:cs typeface="Times New Roman" panose="02020603050405020304" pitchFamily="18" charset="0"/>
              </a:rPr>
              <a:t>unloadings</a:t>
            </a:r>
            <a:r>
              <a:rPr lang="en-US" sz="1900" dirty="0">
                <a:solidFill>
                  <a:srgbClr val="E2E6E9"/>
                </a:solidFill>
                <a:latin typeface="Merriweather" pitchFamily="34" charset="0"/>
                <a:ea typeface="Merriweather" pitchFamily="34" charset="-122"/>
                <a:cs typeface="Merriweather" pitchFamily="34" charset="-120"/>
              </a:rPr>
              <a:t>.</a:t>
            </a:r>
            <a:endParaRPr lang="en-US" sz="1900" dirty="0"/>
          </a:p>
        </p:txBody>
      </p:sp>
      <p:sp>
        <p:nvSpPr>
          <p:cNvPr id="12" name="Shape 2">
            <a:extLst>
              <a:ext uri="{FF2B5EF4-FFF2-40B4-BE49-F238E27FC236}">
                <a16:creationId xmlns:a16="http://schemas.microsoft.com/office/drawing/2014/main" id="{563D2CE1-625F-42E6-CF0A-9CD3697E1A0E}"/>
              </a:ext>
            </a:extLst>
          </p:cNvPr>
          <p:cNvSpPr/>
          <p:nvPr/>
        </p:nvSpPr>
        <p:spPr>
          <a:xfrm rot="21106152">
            <a:off x="4775701" y="2507340"/>
            <a:ext cx="3491389" cy="45719"/>
          </a:xfrm>
          <a:prstGeom prst="roundRect">
            <a:avLst>
              <a:gd name="adj" fmla="val 317286"/>
            </a:avLst>
          </a:prstGeom>
          <a:solidFill>
            <a:srgbClr val="194A99"/>
          </a:solidFill>
          <a:ln/>
        </p:spPr>
        <p:txBody>
          <a:bodyPr/>
          <a:lstStyle/>
          <a:p>
            <a:endParaRPr lang="en-IN"/>
          </a:p>
        </p:txBody>
      </p:sp>
      <p:sp>
        <p:nvSpPr>
          <p:cNvPr id="13" name="Shape 2">
            <a:extLst>
              <a:ext uri="{FF2B5EF4-FFF2-40B4-BE49-F238E27FC236}">
                <a16:creationId xmlns:a16="http://schemas.microsoft.com/office/drawing/2014/main" id="{B80C59DF-37DE-1DD8-CB94-979A77A64172}"/>
              </a:ext>
            </a:extLst>
          </p:cNvPr>
          <p:cNvSpPr/>
          <p:nvPr/>
        </p:nvSpPr>
        <p:spPr>
          <a:xfrm>
            <a:off x="5491757" y="7307498"/>
            <a:ext cx="5164931" cy="45719"/>
          </a:xfrm>
          <a:prstGeom prst="roundRect">
            <a:avLst>
              <a:gd name="adj" fmla="val 317286"/>
            </a:avLst>
          </a:prstGeom>
          <a:solidFill>
            <a:srgbClr val="194A99"/>
          </a:solidFill>
          <a:ln/>
        </p:spPr>
        <p:txBody>
          <a:bodyPr/>
          <a:lstStyle/>
          <a:p>
            <a:endParaRPr lang="en-IN"/>
          </a:p>
        </p:txBody>
      </p:sp>
      <p:sp>
        <p:nvSpPr>
          <p:cNvPr id="14" name="Text 3">
            <a:extLst>
              <a:ext uri="{FF2B5EF4-FFF2-40B4-BE49-F238E27FC236}">
                <a16:creationId xmlns:a16="http://schemas.microsoft.com/office/drawing/2014/main" id="{7BBBA4A1-606C-DED0-D193-99E172F2B703}"/>
              </a:ext>
            </a:extLst>
          </p:cNvPr>
          <p:cNvSpPr/>
          <p:nvPr/>
        </p:nvSpPr>
        <p:spPr>
          <a:xfrm>
            <a:off x="1248221" y="4674928"/>
            <a:ext cx="4045029" cy="385763"/>
          </a:xfrm>
          <a:prstGeom prst="rect">
            <a:avLst/>
          </a:prstGeom>
          <a:noFill/>
          <a:ln/>
        </p:spPr>
        <p:txBody>
          <a:bodyPr wrap="none" lIns="0" tIns="0" rIns="0" bIns="0" rtlCol="0" anchor="t"/>
          <a:lstStyle/>
          <a:p>
            <a:pPr marL="0" indent="0">
              <a:lnSpc>
                <a:spcPts val="3000"/>
              </a:lnSpc>
              <a:buNone/>
            </a:pPr>
            <a:r>
              <a:rPr lang="en-IN" sz="2400" dirty="0">
                <a:solidFill>
                  <a:schemeClr val="bg1"/>
                </a:solidFill>
                <a:latin typeface="Merriweather" panose="020F0502020204030204" pitchFamily="2" charset="0"/>
              </a:rPr>
              <a:t>Real-Time Ship Monitoring </a:t>
            </a:r>
          </a:p>
          <a:p>
            <a:pPr marL="0" indent="0">
              <a:lnSpc>
                <a:spcPts val="3000"/>
              </a:lnSpc>
              <a:buNone/>
            </a:pPr>
            <a:r>
              <a:rPr lang="en-US" sz="2400" dirty="0">
                <a:solidFill>
                  <a:schemeClr val="bg1"/>
                </a:solidFill>
                <a:latin typeface="Merriweather" panose="020F0502020204030204" pitchFamily="2" charset="0"/>
              </a:rPr>
              <a:t> &amp; Crew Management</a:t>
            </a:r>
          </a:p>
        </p:txBody>
      </p:sp>
      <p:sp>
        <p:nvSpPr>
          <p:cNvPr id="20" name="Shape 2">
            <a:extLst>
              <a:ext uri="{FF2B5EF4-FFF2-40B4-BE49-F238E27FC236}">
                <a16:creationId xmlns:a16="http://schemas.microsoft.com/office/drawing/2014/main" id="{2D843ABB-F5BA-7C7F-3C07-18EC949C4EA9}"/>
              </a:ext>
            </a:extLst>
          </p:cNvPr>
          <p:cNvSpPr/>
          <p:nvPr/>
        </p:nvSpPr>
        <p:spPr>
          <a:xfrm>
            <a:off x="5337009" y="5129851"/>
            <a:ext cx="410113" cy="45719"/>
          </a:xfrm>
          <a:prstGeom prst="roundRect">
            <a:avLst>
              <a:gd name="adj" fmla="val 317286"/>
            </a:avLst>
          </a:prstGeom>
          <a:solidFill>
            <a:srgbClr val="194A99"/>
          </a:solidFill>
          <a:ln/>
        </p:spPr>
        <p:txBody>
          <a:bodyPr/>
          <a:lstStyle/>
          <a:p>
            <a:endParaRPr lang="en-IN"/>
          </a:p>
        </p:txBody>
      </p:sp>
      <p:sp>
        <p:nvSpPr>
          <p:cNvPr id="21" name="Shape 3">
            <a:extLst>
              <a:ext uri="{FF2B5EF4-FFF2-40B4-BE49-F238E27FC236}">
                <a16:creationId xmlns:a16="http://schemas.microsoft.com/office/drawing/2014/main" id="{937B309E-A58C-4073-A39D-146C5E95C1E2}"/>
              </a:ext>
            </a:extLst>
          </p:cNvPr>
          <p:cNvSpPr/>
          <p:nvPr/>
        </p:nvSpPr>
        <p:spPr>
          <a:xfrm>
            <a:off x="497087" y="2532010"/>
            <a:ext cx="518041" cy="518041"/>
          </a:xfrm>
          <a:prstGeom prst="roundRect">
            <a:avLst>
              <a:gd name="adj" fmla="val 18668"/>
            </a:avLst>
          </a:prstGeom>
          <a:solidFill>
            <a:srgbClr val="003180"/>
          </a:solidFill>
          <a:ln w="7620">
            <a:solidFill>
              <a:srgbClr val="194A99"/>
            </a:solidFill>
            <a:prstDash val="solid"/>
          </a:ln>
        </p:spPr>
        <p:txBody>
          <a:bodyPr/>
          <a:lstStyle/>
          <a:p>
            <a:endParaRPr lang="en-IN"/>
          </a:p>
        </p:txBody>
      </p:sp>
      <p:sp>
        <p:nvSpPr>
          <p:cNvPr id="22" name="Text 4">
            <a:extLst>
              <a:ext uri="{FF2B5EF4-FFF2-40B4-BE49-F238E27FC236}">
                <a16:creationId xmlns:a16="http://schemas.microsoft.com/office/drawing/2014/main" id="{01A6C686-59BC-6BAF-F1A3-A8B610A2284C}"/>
              </a:ext>
            </a:extLst>
          </p:cNvPr>
          <p:cNvSpPr/>
          <p:nvPr/>
        </p:nvSpPr>
        <p:spPr>
          <a:xfrm>
            <a:off x="680086" y="2618331"/>
            <a:ext cx="151924" cy="345400"/>
          </a:xfrm>
          <a:prstGeom prst="rect">
            <a:avLst/>
          </a:prstGeom>
          <a:noFill/>
          <a:ln/>
        </p:spPr>
        <p:txBody>
          <a:bodyPr wrap="none" lIns="0" tIns="0" rIns="0" bIns="0" rtlCol="0" anchor="t"/>
          <a:lstStyle/>
          <a:p>
            <a:pPr marL="0" indent="0" algn="ctr">
              <a:lnSpc>
                <a:spcPts val="2700"/>
              </a:lnSpc>
              <a:buNone/>
            </a:pPr>
            <a:r>
              <a:rPr lang="en-US" sz="2700" dirty="0">
                <a:solidFill>
                  <a:srgbClr val="E2E6E9"/>
                </a:solidFill>
                <a:latin typeface="Merriweather" pitchFamily="34" charset="0"/>
                <a:ea typeface="Merriweather" pitchFamily="34" charset="-122"/>
                <a:cs typeface="Merriweather" pitchFamily="34" charset="-120"/>
              </a:rPr>
              <a:t>1</a:t>
            </a:r>
            <a:endParaRPr lang="en-US" sz="2700" dirty="0"/>
          </a:p>
        </p:txBody>
      </p:sp>
      <p:sp>
        <p:nvSpPr>
          <p:cNvPr id="23" name="Shape 8">
            <a:extLst>
              <a:ext uri="{FF2B5EF4-FFF2-40B4-BE49-F238E27FC236}">
                <a16:creationId xmlns:a16="http://schemas.microsoft.com/office/drawing/2014/main" id="{2D00EEC2-5A2B-5B70-63F9-FAA7D3E10098}"/>
              </a:ext>
            </a:extLst>
          </p:cNvPr>
          <p:cNvSpPr/>
          <p:nvPr/>
        </p:nvSpPr>
        <p:spPr>
          <a:xfrm>
            <a:off x="497087" y="4801672"/>
            <a:ext cx="518041" cy="518041"/>
          </a:xfrm>
          <a:prstGeom prst="roundRect">
            <a:avLst>
              <a:gd name="adj" fmla="val 18668"/>
            </a:avLst>
          </a:prstGeom>
          <a:solidFill>
            <a:srgbClr val="003180"/>
          </a:solidFill>
          <a:ln w="7620">
            <a:solidFill>
              <a:srgbClr val="194A99"/>
            </a:solidFill>
            <a:prstDash val="solid"/>
          </a:ln>
        </p:spPr>
        <p:txBody>
          <a:bodyPr/>
          <a:lstStyle/>
          <a:p>
            <a:endParaRPr lang="en-IN"/>
          </a:p>
        </p:txBody>
      </p:sp>
      <p:sp>
        <p:nvSpPr>
          <p:cNvPr id="24" name="Text 9">
            <a:extLst>
              <a:ext uri="{FF2B5EF4-FFF2-40B4-BE49-F238E27FC236}">
                <a16:creationId xmlns:a16="http://schemas.microsoft.com/office/drawing/2014/main" id="{F44E7215-69D1-4A75-F3DF-DF7F45F50C1E}"/>
              </a:ext>
            </a:extLst>
          </p:cNvPr>
          <p:cNvSpPr/>
          <p:nvPr/>
        </p:nvSpPr>
        <p:spPr>
          <a:xfrm>
            <a:off x="652821" y="4887993"/>
            <a:ext cx="206573" cy="345400"/>
          </a:xfrm>
          <a:prstGeom prst="rect">
            <a:avLst/>
          </a:prstGeom>
          <a:noFill/>
          <a:ln/>
        </p:spPr>
        <p:txBody>
          <a:bodyPr wrap="none" lIns="0" tIns="0" rIns="0" bIns="0" rtlCol="0" anchor="t"/>
          <a:lstStyle/>
          <a:p>
            <a:pPr marL="0" indent="0" algn="ctr">
              <a:lnSpc>
                <a:spcPts val="2700"/>
              </a:lnSpc>
              <a:buNone/>
            </a:pPr>
            <a:r>
              <a:rPr lang="en-US" sz="2700" dirty="0">
                <a:solidFill>
                  <a:srgbClr val="E2E6E9"/>
                </a:solidFill>
                <a:latin typeface="Merriweather" pitchFamily="34" charset="0"/>
                <a:ea typeface="Merriweather" pitchFamily="34" charset="-122"/>
                <a:cs typeface="Merriweather" pitchFamily="34" charset="-120"/>
              </a:rPr>
              <a:t>2</a:t>
            </a:r>
            <a:endParaRPr lang="en-US" sz="2700" dirty="0"/>
          </a:p>
        </p:txBody>
      </p:sp>
      <p:sp>
        <p:nvSpPr>
          <p:cNvPr id="25" name="Shape 13">
            <a:extLst>
              <a:ext uri="{FF2B5EF4-FFF2-40B4-BE49-F238E27FC236}">
                <a16:creationId xmlns:a16="http://schemas.microsoft.com/office/drawing/2014/main" id="{BA48DD80-518C-E7FD-1EBB-48AE2A53F57C}"/>
              </a:ext>
            </a:extLst>
          </p:cNvPr>
          <p:cNvSpPr/>
          <p:nvPr/>
        </p:nvSpPr>
        <p:spPr>
          <a:xfrm>
            <a:off x="490896" y="7071334"/>
            <a:ext cx="518041" cy="518041"/>
          </a:xfrm>
          <a:prstGeom prst="roundRect">
            <a:avLst>
              <a:gd name="adj" fmla="val 18668"/>
            </a:avLst>
          </a:prstGeom>
          <a:solidFill>
            <a:srgbClr val="003180"/>
          </a:solidFill>
          <a:ln w="7620">
            <a:solidFill>
              <a:srgbClr val="194A99"/>
            </a:solidFill>
            <a:prstDash val="solid"/>
          </a:ln>
        </p:spPr>
        <p:txBody>
          <a:bodyPr/>
          <a:lstStyle/>
          <a:p>
            <a:endParaRPr lang="en-IN"/>
          </a:p>
        </p:txBody>
      </p:sp>
      <p:sp>
        <p:nvSpPr>
          <p:cNvPr id="26" name="Text 14">
            <a:extLst>
              <a:ext uri="{FF2B5EF4-FFF2-40B4-BE49-F238E27FC236}">
                <a16:creationId xmlns:a16="http://schemas.microsoft.com/office/drawing/2014/main" id="{A21F3832-09B2-D499-565A-492D7CCC7416}"/>
              </a:ext>
            </a:extLst>
          </p:cNvPr>
          <p:cNvSpPr/>
          <p:nvPr/>
        </p:nvSpPr>
        <p:spPr>
          <a:xfrm>
            <a:off x="653178" y="7157654"/>
            <a:ext cx="193358" cy="345400"/>
          </a:xfrm>
          <a:prstGeom prst="rect">
            <a:avLst/>
          </a:prstGeom>
          <a:noFill/>
          <a:ln/>
        </p:spPr>
        <p:txBody>
          <a:bodyPr wrap="none" lIns="0" tIns="0" rIns="0" bIns="0" rtlCol="0" anchor="t"/>
          <a:lstStyle/>
          <a:p>
            <a:pPr marL="0" indent="0" algn="ctr">
              <a:lnSpc>
                <a:spcPts val="2700"/>
              </a:lnSpc>
              <a:buNone/>
            </a:pPr>
            <a:r>
              <a:rPr lang="en-US" sz="2700" dirty="0">
                <a:solidFill>
                  <a:srgbClr val="E2E6E9"/>
                </a:solidFill>
                <a:latin typeface="Merriweather" pitchFamily="34" charset="0"/>
                <a:ea typeface="Merriweather" pitchFamily="34" charset="-122"/>
                <a:cs typeface="Merriweather" pitchFamily="34" charset="-120"/>
              </a:rPr>
              <a:t>3</a:t>
            </a:r>
            <a:endParaRPr lang="en-US" sz="2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21876" y="734020"/>
            <a:ext cx="5540097" cy="692467"/>
          </a:xfrm>
          <a:prstGeom prst="rect">
            <a:avLst/>
          </a:prstGeom>
          <a:noFill/>
          <a:ln/>
        </p:spPr>
        <p:txBody>
          <a:bodyPr wrap="none" lIns="0" tIns="0" rIns="0" bIns="0" rtlCol="0" anchor="t"/>
          <a:lstStyle/>
          <a:p>
            <a:pPr marL="0" indent="0">
              <a:lnSpc>
                <a:spcPts val="5450"/>
              </a:lnSpc>
              <a:buNone/>
            </a:pPr>
            <a:r>
              <a:rPr lang="en-US" sz="4350" dirty="0">
                <a:solidFill>
                  <a:srgbClr val="F5F0F0"/>
                </a:solidFill>
                <a:latin typeface="Merriweather" pitchFamily="34" charset="0"/>
                <a:ea typeface="Merriweather" pitchFamily="34" charset="-122"/>
                <a:cs typeface="Merriweather" pitchFamily="34" charset="-120"/>
              </a:rPr>
              <a:t>Implementation</a:t>
            </a:r>
            <a:endParaRPr lang="en-US" sz="4350" dirty="0"/>
          </a:p>
        </p:txBody>
      </p:sp>
      <p:sp>
        <p:nvSpPr>
          <p:cNvPr id="4" name="Shape 1"/>
          <p:cNvSpPr/>
          <p:nvPr/>
        </p:nvSpPr>
        <p:spPr>
          <a:xfrm>
            <a:off x="721876" y="1758791"/>
            <a:ext cx="7592854" cy="2000845"/>
          </a:xfrm>
          <a:prstGeom prst="roundRect">
            <a:avLst>
              <a:gd name="adj" fmla="val 4652"/>
            </a:avLst>
          </a:prstGeom>
          <a:solidFill>
            <a:srgbClr val="003180"/>
          </a:solidFill>
          <a:ln w="7620">
            <a:solidFill>
              <a:srgbClr val="194A99"/>
            </a:solidFill>
            <a:prstDash val="solid"/>
          </a:ln>
        </p:spPr>
        <p:txBody>
          <a:bodyPr/>
          <a:lstStyle/>
          <a:p>
            <a:endParaRPr lang="en-IN"/>
          </a:p>
        </p:txBody>
      </p:sp>
      <p:sp>
        <p:nvSpPr>
          <p:cNvPr id="5" name="Text 2"/>
          <p:cNvSpPr/>
          <p:nvPr/>
        </p:nvSpPr>
        <p:spPr>
          <a:xfrm>
            <a:off x="951071" y="1987987"/>
            <a:ext cx="2931795" cy="346234"/>
          </a:xfrm>
          <a:prstGeom prst="rect">
            <a:avLst/>
          </a:prstGeom>
          <a:noFill/>
          <a:ln/>
        </p:spPr>
        <p:txBody>
          <a:bodyPr wrap="none" lIns="0" tIns="0" rIns="0" bIns="0" rtlCol="0" anchor="t"/>
          <a:lstStyle/>
          <a:p>
            <a:pPr marL="0" indent="0">
              <a:lnSpc>
                <a:spcPts val="2700"/>
              </a:lnSpc>
              <a:buNone/>
            </a:pPr>
            <a:r>
              <a:rPr lang="en-US" sz="2800" dirty="0">
                <a:solidFill>
                  <a:srgbClr val="E2E6E9"/>
                </a:solidFill>
                <a:latin typeface="Times New Roman" panose="02020603050405020304" pitchFamily="18" charset="0"/>
                <a:ea typeface="Merriweather" pitchFamily="34" charset="-122"/>
                <a:cs typeface="Times New Roman" panose="02020603050405020304" pitchFamily="18" charset="0"/>
              </a:rPr>
              <a:t>Tools &amp; Technologies</a:t>
            </a:r>
            <a:endParaRPr lang="en-US" sz="2800" dirty="0">
              <a:latin typeface="Times New Roman" panose="02020603050405020304" pitchFamily="18" charset="0"/>
              <a:cs typeface="Times New Roman" panose="02020603050405020304" pitchFamily="18" charset="0"/>
            </a:endParaRPr>
          </a:p>
        </p:txBody>
      </p:sp>
      <p:sp>
        <p:nvSpPr>
          <p:cNvPr id="6" name="Text 3"/>
          <p:cNvSpPr/>
          <p:nvPr/>
        </p:nvSpPr>
        <p:spPr>
          <a:xfrm>
            <a:off x="951071" y="2467095"/>
            <a:ext cx="7134463" cy="1063347"/>
          </a:xfrm>
          <a:prstGeom prst="rect">
            <a:avLst/>
          </a:prstGeom>
          <a:noFill/>
          <a:ln/>
        </p:spPr>
        <p:txBody>
          <a:bodyPr wrap="square" lIns="0" tIns="0" rIns="0" bIns="0" rtlCol="0" anchor="t"/>
          <a:lstStyle/>
          <a:p>
            <a:pPr marL="0" indent="0">
              <a:lnSpc>
                <a:spcPts val="2750"/>
              </a:lnSpc>
              <a:buNone/>
            </a:pPr>
            <a:r>
              <a:rPr lang="en-US" sz="1700" b="1" dirty="0">
                <a:solidFill>
                  <a:srgbClr val="E2E6E9"/>
                </a:solidFill>
                <a:latin typeface="Times New Roman" panose="02020603050405020304" pitchFamily="18" charset="0"/>
                <a:ea typeface="Merriweather" pitchFamily="34" charset="-122"/>
                <a:cs typeface="Times New Roman" panose="02020603050405020304" pitchFamily="18" charset="0"/>
              </a:rPr>
              <a:t>Front-End</a:t>
            </a:r>
            <a:r>
              <a:rPr lang="en-US" sz="1700" dirty="0">
                <a:solidFill>
                  <a:srgbClr val="E2E6E9"/>
                </a:solidFill>
                <a:latin typeface="Times New Roman" panose="02020603050405020304" pitchFamily="18" charset="0"/>
                <a:ea typeface="Merriweather" pitchFamily="34" charset="-122"/>
                <a:cs typeface="Times New Roman" panose="02020603050405020304" pitchFamily="18" charset="0"/>
              </a:rPr>
              <a:t>: HTML, CSS, JavaScript.</a:t>
            </a:r>
          </a:p>
          <a:p>
            <a:pPr marL="0" indent="0">
              <a:lnSpc>
                <a:spcPts val="2750"/>
              </a:lnSpc>
              <a:buNone/>
            </a:pPr>
            <a:r>
              <a:rPr lang="en-US" sz="1700" b="1" dirty="0">
                <a:solidFill>
                  <a:srgbClr val="E2E6E9"/>
                </a:solidFill>
                <a:latin typeface="Times New Roman" panose="02020603050405020304" pitchFamily="18" charset="0"/>
                <a:ea typeface="Merriweather" pitchFamily="34" charset="-122"/>
                <a:cs typeface="Times New Roman" panose="02020603050405020304" pitchFamily="18" charset="0"/>
              </a:rPr>
              <a:t>Back-End</a:t>
            </a:r>
            <a:r>
              <a:rPr lang="en-US" sz="1700" dirty="0">
                <a:solidFill>
                  <a:srgbClr val="E2E6E9"/>
                </a:solidFill>
                <a:latin typeface="Times New Roman" panose="02020603050405020304" pitchFamily="18" charset="0"/>
                <a:ea typeface="Merriweather" pitchFamily="34" charset="-122"/>
                <a:cs typeface="Times New Roman" panose="02020603050405020304" pitchFamily="18" charset="0"/>
              </a:rPr>
              <a:t>: Python (Flask) with TensorFlow integrated for AI-based scheduling.</a:t>
            </a:r>
          </a:p>
          <a:p>
            <a:pPr marL="0" indent="0">
              <a:lnSpc>
                <a:spcPts val="2750"/>
              </a:lnSpc>
              <a:buNone/>
            </a:pPr>
            <a:r>
              <a:rPr lang="en-US" sz="1700" b="1" dirty="0">
                <a:solidFill>
                  <a:srgbClr val="E2E6E9"/>
                </a:solidFill>
                <a:latin typeface="Times New Roman" panose="02020603050405020304" pitchFamily="18" charset="0"/>
                <a:ea typeface="Merriweather" pitchFamily="34" charset="-122"/>
                <a:cs typeface="Times New Roman" panose="02020603050405020304" pitchFamily="18" charset="0"/>
              </a:rPr>
              <a:t>Database: </a:t>
            </a:r>
            <a:r>
              <a:rPr lang="en-US" sz="1700" dirty="0">
                <a:solidFill>
                  <a:srgbClr val="E2E6E9"/>
                </a:solidFill>
                <a:latin typeface="Times New Roman" panose="02020603050405020304" pitchFamily="18" charset="0"/>
                <a:ea typeface="Merriweather" pitchFamily="34" charset="-122"/>
                <a:cs typeface="Times New Roman" panose="02020603050405020304" pitchFamily="18" charset="0"/>
              </a:rPr>
              <a:t>SQLite</a:t>
            </a:r>
            <a:endParaRPr lang="en-US" sz="1700" dirty="0">
              <a:latin typeface="Times New Roman" panose="02020603050405020304" pitchFamily="18" charset="0"/>
              <a:cs typeface="Times New Roman" panose="02020603050405020304" pitchFamily="18" charset="0"/>
            </a:endParaRPr>
          </a:p>
        </p:txBody>
      </p:sp>
      <p:sp>
        <p:nvSpPr>
          <p:cNvPr id="7" name="Shape 4"/>
          <p:cNvSpPr/>
          <p:nvPr/>
        </p:nvSpPr>
        <p:spPr>
          <a:xfrm>
            <a:off x="721876" y="3981212"/>
            <a:ext cx="7592854" cy="1646396"/>
          </a:xfrm>
          <a:prstGeom prst="roundRect">
            <a:avLst>
              <a:gd name="adj" fmla="val 5653"/>
            </a:avLst>
          </a:prstGeom>
          <a:solidFill>
            <a:srgbClr val="003180"/>
          </a:solidFill>
          <a:ln w="7620">
            <a:solidFill>
              <a:srgbClr val="194A99"/>
            </a:solidFill>
            <a:prstDash val="solid"/>
          </a:ln>
        </p:spPr>
        <p:txBody>
          <a:bodyPr/>
          <a:lstStyle/>
          <a:p>
            <a:endParaRPr lang="en-IN"/>
          </a:p>
        </p:txBody>
      </p:sp>
      <p:sp>
        <p:nvSpPr>
          <p:cNvPr id="8" name="Text 5"/>
          <p:cNvSpPr/>
          <p:nvPr/>
        </p:nvSpPr>
        <p:spPr>
          <a:xfrm>
            <a:off x="951071" y="4210407"/>
            <a:ext cx="2769989" cy="346234"/>
          </a:xfrm>
          <a:prstGeom prst="rect">
            <a:avLst/>
          </a:prstGeom>
          <a:noFill/>
          <a:ln/>
        </p:spPr>
        <p:txBody>
          <a:bodyPr wrap="none" lIns="0" tIns="0" rIns="0" bIns="0" rtlCol="0" anchor="t"/>
          <a:lstStyle/>
          <a:p>
            <a:pPr marL="0" indent="0">
              <a:lnSpc>
                <a:spcPts val="2700"/>
              </a:lnSpc>
              <a:buNone/>
            </a:pPr>
            <a:r>
              <a:rPr lang="en-US" sz="2800" dirty="0">
                <a:solidFill>
                  <a:srgbClr val="E2E6E9"/>
                </a:solidFill>
                <a:latin typeface="Times New Roman" panose="02020603050405020304" pitchFamily="18" charset="0"/>
                <a:ea typeface="Merriweather" pitchFamily="34" charset="-122"/>
                <a:cs typeface="Times New Roman" panose="02020603050405020304" pitchFamily="18" charset="0"/>
              </a:rPr>
              <a:t>User Dashboards</a:t>
            </a:r>
            <a:endParaRPr lang="en-US" sz="2800" dirty="0">
              <a:latin typeface="Times New Roman" panose="02020603050405020304" pitchFamily="18" charset="0"/>
              <a:cs typeface="Times New Roman" panose="02020603050405020304" pitchFamily="18" charset="0"/>
            </a:endParaRPr>
          </a:p>
        </p:txBody>
      </p:sp>
      <p:sp>
        <p:nvSpPr>
          <p:cNvPr id="9" name="Text 6"/>
          <p:cNvSpPr/>
          <p:nvPr/>
        </p:nvSpPr>
        <p:spPr>
          <a:xfrm>
            <a:off x="948687" y="4581943"/>
            <a:ext cx="7134463" cy="708898"/>
          </a:xfrm>
          <a:prstGeom prst="rect">
            <a:avLst/>
          </a:prstGeom>
          <a:noFill/>
          <a:ln/>
        </p:spPr>
        <p:txBody>
          <a:bodyPr wrap="square" lIns="0" tIns="0" rIns="0" bIns="0" rtlCol="0" anchor="t"/>
          <a:lstStyle/>
          <a:p>
            <a:pPr marL="0" indent="0">
              <a:lnSpc>
                <a:spcPts val="2750"/>
              </a:lnSpc>
              <a:buNone/>
            </a:pPr>
            <a:r>
              <a:rPr lang="en-US" sz="1700" dirty="0">
                <a:solidFill>
                  <a:srgbClr val="E2E6E9"/>
                </a:solidFill>
                <a:latin typeface="Times New Roman" panose="02020603050405020304" pitchFamily="18" charset="0"/>
                <a:ea typeface="Merriweather" pitchFamily="34" charset="-122"/>
                <a:cs typeface="Times New Roman" panose="02020603050405020304" pitchFamily="18" charset="0"/>
              </a:rPr>
              <a:t>Developed separate Dynamic dashboards for each user role (Ship Owner, Crew Members, Management Employees, and Ship) with distinct features and information.</a:t>
            </a:r>
            <a:endParaRPr lang="en-US" sz="1700" dirty="0">
              <a:latin typeface="Times New Roman" panose="02020603050405020304" pitchFamily="18" charset="0"/>
              <a:cs typeface="Times New Roman" panose="02020603050405020304" pitchFamily="18" charset="0"/>
            </a:endParaRPr>
          </a:p>
        </p:txBody>
      </p:sp>
      <p:sp>
        <p:nvSpPr>
          <p:cNvPr id="10" name="Shape 7"/>
          <p:cNvSpPr/>
          <p:nvPr/>
        </p:nvSpPr>
        <p:spPr>
          <a:xfrm>
            <a:off x="721876" y="5849183"/>
            <a:ext cx="7592854" cy="1646396"/>
          </a:xfrm>
          <a:prstGeom prst="roundRect">
            <a:avLst>
              <a:gd name="adj" fmla="val 5653"/>
            </a:avLst>
          </a:prstGeom>
          <a:solidFill>
            <a:srgbClr val="003180"/>
          </a:solidFill>
          <a:ln w="7620">
            <a:solidFill>
              <a:srgbClr val="194A99"/>
            </a:solidFill>
            <a:prstDash val="solid"/>
          </a:ln>
        </p:spPr>
        <p:txBody>
          <a:bodyPr/>
          <a:lstStyle/>
          <a:p>
            <a:endParaRPr lang="en-IN"/>
          </a:p>
        </p:txBody>
      </p:sp>
      <p:sp>
        <p:nvSpPr>
          <p:cNvPr id="11" name="Text 8"/>
          <p:cNvSpPr/>
          <p:nvPr/>
        </p:nvSpPr>
        <p:spPr>
          <a:xfrm>
            <a:off x="951071" y="6068496"/>
            <a:ext cx="3629858" cy="346234"/>
          </a:xfrm>
          <a:prstGeom prst="rect">
            <a:avLst/>
          </a:prstGeom>
          <a:noFill/>
          <a:ln/>
        </p:spPr>
        <p:txBody>
          <a:bodyPr wrap="none" lIns="0" tIns="0" rIns="0" bIns="0" rtlCol="0" anchor="t"/>
          <a:lstStyle/>
          <a:p>
            <a:pPr marL="0" indent="0">
              <a:lnSpc>
                <a:spcPts val="2700"/>
              </a:lnSpc>
              <a:buNone/>
            </a:pPr>
            <a:r>
              <a:rPr lang="en-US" sz="2150" dirty="0">
                <a:solidFill>
                  <a:srgbClr val="E2E6E9"/>
                </a:solidFill>
                <a:latin typeface="Merriweather" pitchFamily="34" charset="0"/>
                <a:ea typeface="Merriweather" pitchFamily="34" charset="-122"/>
                <a:cs typeface="Merriweather" pitchFamily="34" charset="-120"/>
              </a:rPr>
              <a:t>AI-Based Cargo prediction</a:t>
            </a:r>
            <a:endParaRPr lang="en-US" sz="2150" dirty="0"/>
          </a:p>
        </p:txBody>
      </p:sp>
      <p:sp>
        <p:nvSpPr>
          <p:cNvPr id="12" name="Text 9"/>
          <p:cNvSpPr/>
          <p:nvPr/>
        </p:nvSpPr>
        <p:spPr>
          <a:xfrm>
            <a:off x="951069" y="6424613"/>
            <a:ext cx="7134463" cy="708898"/>
          </a:xfrm>
          <a:prstGeom prst="rect">
            <a:avLst/>
          </a:prstGeom>
          <a:noFill/>
          <a:ln/>
        </p:spPr>
        <p:txBody>
          <a:bodyPr wrap="square" lIns="0" tIns="0" rIns="0" bIns="0" rtlCol="0" anchor="t"/>
          <a:lstStyle/>
          <a:p>
            <a:pPr marL="0" indent="0">
              <a:lnSpc>
                <a:spcPts val="2750"/>
              </a:lnSpc>
              <a:buNone/>
            </a:pPr>
            <a:r>
              <a:rPr lang="en-US" sz="1700" dirty="0">
                <a:solidFill>
                  <a:srgbClr val="E2E6E9"/>
                </a:solidFill>
                <a:latin typeface="Times New Roman" panose="02020603050405020304" pitchFamily="18" charset="0"/>
                <a:ea typeface="Merriweather" pitchFamily="34" charset="-122"/>
                <a:cs typeface="Times New Roman" panose="02020603050405020304" pitchFamily="18" charset="0"/>
              </a:rPr>
              <a:t>Collects cargo data and assigns them to ships for upcoming voyages, optimizing schedules using machine learning algorithms</a:t>
            </a:r>
            <a:endParaRPr lang="en-US" sz="17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543758" y="551974"/>
            <a:ext cx="3884057" cy="485418"/>
          </a:xfrm>
          <a:prstGeom prst="rect">
            <a:avLst/>
          </a:prstGeom>
          <a:noFill/>
          <a:ln/>
        </p:spPr>
        <p:txBody>
          <a:bodyPr wrap="none" lIns="0" tIns="0" rIns="0" bIns="0" rtlCol="0" anchor="t"/>
          <a:lstStyle/>
          <a:p>
            <a:pPr marL="0" indent="0">
              <a:lnSpc>
                <a:spcPts val="3800"/>
              </a:lnSpc>
              <a:buNone/>
            </a:pPr>
            <a:r>
              <a:rPr lang="en-US" sz="3050" dirty="0">
                <a:solidFill>
                  <a:srgbClr val="F5F0F0"/>
                </a:solidFill>
                <a:latin typeface="Merriweather" pitchFamily="34" charset="0"/>
                <a:ea typeface="Merriweather" pitchFamily="34" charset="-122"/>
                <a:cs typeface="Merriweather" pitchFamily="34" charset="-120"/>
              </a:rPr>
              <a:t>Results</a:t>
            </a:r>
            <a:endParaRPr lang="en-US" sz="3050" dirty="0"/>
          </a:p>
        </p:txBody>
      </p:sp>
      <p:pic>
        <p:nvPicPr>
          <p:cNvPr id="4" name="Image 1" descr="preencoded.png"/>
          <p:cNvPicPr>
            <a:picLocks noChangeAspect="1"/>
          </p:cNvPicPr>
          <p:nvPr/>
        </p:nvPicPr>
        <p:blipFill>
          <a:blip r:embed="rId3"/>
          <a:stretch>
            <a:fillRect/>
          </a:stretch>
        </p:blipFill>
        <p:spPr>
          <a:xfrm>
            <a:off x="543758" y="1270397"/>
            <a:ext cx="388382" cy="388382"/>
          </a:xfrm>
          <a:prstGeom prst="rect">
            <a:avLst/>
          </a:prstGeom>
        </p:spPr>
      </p:pic>
      <p:sp>
        <p:nvSpPr>
          <p:cNvPr id="5" name="Text 1"/>
          <p:cNvSpPr/>
          <p:nvPr/>
        </p:nvSpPr>
        <p:spPr>
          <a:xfrm>
            <a:off x="543758" y="1814036"/>
            <a:ext cx="1942028" cy="242649"/>
          </a:xfrm>
          <a:prstGeom prst="rect">
            <a:avLst/>
          </a:prstGeom>
          <a:noFill/>
          <a:ln/>
        </p:spPr>
        <p:txBody>
          <a:bodyPr wrap="none" lIns="0" tIns="0" rIns="0" bIns="0" rtlCol="0" anchor="t"/>
          <a:lstStyle/>
          <a:p>
            <a:pPr marL="0" indent="0" algn="l">
              <a:lnSpc>
                <a:spcPts val="1900"/>
              </a:lnSpc>
              <a:buNone/>
            </a:pPr>
            <a:r>
              <a:rPr lang="en-US" sz="1500" dirty="0">
                <a:solidFill>
                  <a:srgbClr val="E2E6E9"/>
                </a:solidFill>
                <a:latin typeface="Merriweather" pitchFamily="34" charset="0"/>
                <a:ea typeface="Merriweather" pitchFamily="34" charset="-122"/>
                <a:cs typeface="Merriweather" pitchFamily="34" charset="-120"/>
              </a:rPr>
              <a:t>Improved Efficiency</a:t>
            </a:r>
            <a:endParaRPr lang="en-US" sz="1500" dirty="0"/>
          </a:p>
        </p:txBody>
      </p:sp>
      <p:sp>
        <p:nvSpPr>
          <p:cNvPr id="6" name="Text 2"/>
          <p:cNvSpPr/>
          <p:nvPr/>
        </p:nvSpPr>
        <p:spPr>
          <a:xfrm>
            <a:off x="543758" y="2149793"/>
            <a:ext cx="8056483" cy="248603"/>
          </a:xfrm>
          <a:prstGeom prst="rect">
            <a:avLst/>
          </a:prstGeom>
          <a:noFill/>
          <a:ln/>
        </p:spPr>
        <p:txBody>
          <a:bodyPr wrap="none" lIns="0" tIns="0" rIns="0" bIns="0" rtlCol="0" anchor="t"/>
          <a:lstStyle/>
          <a:p>
            <a:pPr marL="0" indent="0" algn="l">
              <a:lnSpc>
                <a:spcPts val="1950"/>
              </a:lnSpc>
              <a:buNone/>
            </a:pPr>
            <a:r>
              <a:rPr lang="en-US" sz="1200" dirty="0">
                <a:solidFill>
                  <a:srgbClr val="E2E6E9"/>
                </a:solidFill>
                <a:latin typeface="Merriweather" pitchFamily="34" charset="0"/>
                <a:ea typeface="Merriweather" pitchFamily="34" charset="-122"/>
                <a:cs typeface="Merriweather" pitchFamily="34" charset="-120"/>
              </a:rPr>
              <a:t>The AI-based cargo prediction reduces spatial wastage ,marine pollution and sinking risks by 70%.</a:t>
            </a:r>
            <a:endParaRPr lang="en-US" sz="1200" dirty="0"/>
          </a:p>
        </p:txBody>
      </p:sp>
      <p:pic>
        <p:nvPicPr>
          <p:cNvPr id="7" name="Image 2" descr="preencoded.png"/>
          <p:cNvPicPr>
            <a:picLocks noChangeAspect="1"/>
          </p:cNvPicPr>
          <p:nvPr/>
        </p:nvPicPr>
        <p:blipFill>
          <a:blip r:embed="rId4"/>
          <a:stretch>
            <a:fillRect/>
          </a:stretch>
        </p:blipFill>
        <p:spPr>
          <a:xfrm>
            <a:off x="543758" y="2864406"/>
            <a:ext cx="388382" cy="388382"/>
          </a:xfrm>
          <a:prstGeom prst="rect">
            <a:avLst/>
          </a:prstGeom>
        </p:spPr>
      </p:pic>
      <p:sp>
        <p:nvSpPr>
          <p:cNvPr id="8" name="Text 3"/>
          <p:cNvSpPr/>
          <p:nvPr/>
        </p:nvSpPr>
        <p:spPr>
          <a:xfrm>
            <a:off x="543758" y="3408045"/>
            <a:ext cx="1942028" cy="242649"/>
          </a:xfrm>
          <a:prstGeom prst="rect">
            <a:avLst/>
          </a:prstGeom>
          <a:noFill/>
          <a:ln/>
        </p:spPr>
        <p:txBody>
          <a:bodyPr wrap="none" lIns="0" tIns="0" rIns="0" bIns="0" rtlCol="0" anchor="t"/>
          <a:lstStyle/>
          <a:p>
            <a:pPr marL="0" indent="0" algn="l">
              <a:lnSpc>
                <a:spcPts val="1900"/>
              </a:lnSpc>
              <a:buNone/>
            </a:pPr>
            <a:r>
              <a:rPr lang="en-US" sz="1500" dirty="0">
                <a:solidFill>
                  <a:srgbClr val="E2E6E9"/>
                </a:solidFill>
                <a:latin typeface="Merriweather" pitchFamily="34" charset="0"/>
                <a:ea typeface="Merriweather" pitchFamily="34" charset="-122"/>
                <a:cs typeface="Merriweather" pitchFamily="34" charset="-120"/>
              </a:rPr>
              <a:t>Real-Time Updates</a:t>
            </a:r>
            <a:endParaRPr lang="en-US" sz="1500" dirty="0"/>
          </a:p>
        </p:txBody>
      </p:sp>
      <p:sp>
        <p:nvSpPr>
          <p:cNvPr id="9" name="Text 4"/>
          <p:cNvSpPr/>
          <p:nvPr/>
        </p:nvSpPr>
        <p:spPr>
          <a:xfrm>
            <a:off x="543758" y="3743801"/>
            <a:ext cx="8056483" cy="248603"/>
          </a:xfrm>
          <a:prstGeom prst="rect">
            <a:avLst/>
          </a:prstGeom>
          <a:noFill/>
          <a:ln/>
        </p:spPr>
        <p:txBody>
          <a:bodyPr wrap="none" lIns="0" tIns="0" rIns="0" bIns="0" rtlCol="0" anchor="t"/>
          <a:lstStyle/>
          <a:p>
            <a:pPr marL="0" indent="0" algn="l">
              <a:lnSpc>
                <a:spcPts val="1950"/>
              </a:lnSpc>
              <a:buNone/>
            </a:pPr>
            <a:r>
              <a:rPr lang="en-US" sz="1200" dirty="0">
                <a:solidFill>
                  <a:srgbClr val="E2E6E9"/>
                </a:solidFill>
                <a:latin typeface="Merriweather" pitchFamily="34" charset="0"/>
                <a:ea typeface="Merriweather" pitchFamily="34" charset="-122"/>
                <a:cs typeface="Merriweather" pitchFamily="34" charset="-120"/>
              </a:rPr>
              <a:t>Stakeholders receive instant updates on ship statuses, cargo details, and crew assignments.</a:t>
            </a:r>
            <a:endParaRPr lang="en-US" sz="1200" dirty="0"/>
          </a:p>
        </p:txBody>
      </p:sp>
      <p:pic>
        <p:nvPicPr>
          <p:cNvPr id="10" name="Image 3" descr="preencoded.png"/>
          <p:cNvPicPr>
            <a:picLocks noChangeAspect="1"/>
          </p:cNvPicPr>
          <p:nvPr/>
        </p:nvPicPr>
        <p:blipFill>
          <a:blip r:embed="rId5"/>
          <a:stretch>
            <a:fillRect/>
          </a:stretch>
        </p:blipFill>
        <p:spPr>
          <a:xfrm>
            <a:off x="543758" y="4458414"/>
            <a:ext cx="388382" cy="388382"/>
          </a:xfrm>
          <a:prstGeom prst="rect">
            <a:avLst/>
          </a:prstGeom>
        </p:spPr>
      </p:pic>
      <p:sp>
        <p:nvSpPr>
          <p:cNvPr id="11" name="Text 5"/>
          <p:cNvSpPr/>
          <p:nvPr/>
        </p:nvSpPr>
        <p:spPr>
          <a:xfrm>
            <a:off x="543758" y="5002054"/>
            <a:ext cx="2386727" cy="242649"/>
          </a:xfrm>
          <a:prstGeom prst="rect">
            <a:avLst/>
          </a:prstGeom>
          <a:noFill/>
          <a:ln/>
        </p:spPr>
        <p:txBody>
          <a:bodyPr wrap="none" lIns="0" tIns="0" rIns="0" bIns="0" rtlCol="0" anchor="t"/>
          <a:lstStyle/>
          <a:p>
            <a:pPr marL="0" indent="0" algn="l">
              <a:lnSpc>
                <a:spcPts val="1900"/>
              </a:lnSpc>
              <a:buNone/>
            </a:pPr>
            <a:r>
              <a:rPr lang="en-US" sz="1500" dirty="0">
                <a:solidFill>
                  <a:srgbClr val="E2E6E9"/>
                </a:solidFill>
                <a:latin typeface="Merriweather" pitchFamily="34" charset="0"/>
                <a:ea typeface="Merriweather" pitchFamily="34" charset="-122"/>
                <a:cs typeface="Merriweather" pitchFamily="34" charset="-120"/>
              </a:rPr>
              <a:t>Operational Cost Savings</a:t>
            </a:r>
            <a:endParaRPr lang="en-US" sz="1500" dirty="0"/>
          </a:p>
        </p:txBody>
      </p:sp>
      <p:sp>
        <p:nvSpPr>
          <p:cNvPr id="12" name="Text 6"/>
          <p:cNvSpPr/>
          <p:nvPr/>
        </p:nvSpPr>
        <p:spPr>
          <a:xfrm>
            <a:off x="543758" y="5337810"/>
            <a:ext cx="8056483" cy="497205"/>
          </a:xfrm>
          <a:prstGeom prst="rect">
            <a:avLst/>
          </a:prstGeom>
          <a:noFill/>
          <a:ln/>
        </p:spPr>
        <p:txBody>
          <a:bodyPr wrap="square" lIns="0" tIns="0" rIns="0" bIns="0" rtlCol="0" anchor="t"/>
          <a:lstStyle/>
          <a:p>
            <a:pPr marL="0" indent="0" algn="l">
              <a:lnSpc>
                <a:spcPts val="1950"/>
              </a:lnSpc>
              <a:buNone/>
            </a:pPr>
            <a:r>
              <a:rPr lang="en-US" sz="1200" dirty="0">
                <a:solidFill>
                  <a:srgbClr val="E2E6E9"/>
                </a:solidFill>
                <a:latin typeface="Merriweather" pitchFamily="34" charset="0"/>
                <a:ea typeface="Merriweather" pitchFamily="34" charset="-122"/>
                <a:cs typeface="Merriweather" pitchFamily="34" charset="-120"/>
              </a:rPr>
              <a:t>By automating crew scheduling and reducing errors, the portal contributed to a 15% reduction in operational costs.</a:t>
            </a:r>
            <a:endParaRPr lang="en-US" sz="1200" dirty="0"/>
          </a:p>
        </p:txBody>
      </p:sp>
      <p:pic>
        <p:nvPicPr>
          <p:cNvPr id="13" name="Image 4" descr="preencoded.png"/>
          <p:cNvPicPr>
            <a:picLocks noChangeAspect="1"/>
          </p:cNvPicPr>
          <p:nvPr/>
        </p:nvPicPr>
        <p:blipFill>
          <a:blip r:embed="rId6"/>
          <a:stretch>
            <a:fillRect/>
          </a:stretch>
        </p:blipFill>
        <p:spPr>
          <a:xfrm>
            <a:off x="543758" y="6301026"/>
            <a:ext cx="388382" cy="388382"/>
          </a:xfrm>
          <a:prstGeom prst="rect">
            <a:avLst/>
          </a:prstGeom>
        </p:spPr>
      </p:pic>
      <p:sp>
        <p:nvSpPr>
          <p:cNvPr id="14" name="Text 7"/>
          <p:cNvSpPr/>
          <p:nvPr/>
        </p:nvSpPr>
        <p:spPr>
          <a:xfrm>
            <a:off x="543758" y="6844665"/>
            <a:ext cx="1942028" cy="242649"/>
          </a:xfrm>
          <a:prstGeom prst="rect">
            <a:avLst/>
          </a:prstGeom>
          <a:noFill/>
          <a:ln/>
        </p:spPr>
        <p:txBody>
          <a:bodyPr wrap="none" lIns="0" tIns="0" rIns="0" bIns="0" rtlCol="0" anchor="t"/>
          <a:lstStyle/>
          <a:p>
            <a:pPr marL="0" indent="0" algn="l">
              <a:lnSpc>
                <a:spcPts val="1900"/>
              </a:lnSpc>
              <a:buNone/>
            </a:pPr>
            <a:r>
              <a:rPr lang="en-US" sz="1500" dirty="0">
                <a:solidFill>
                  <a:srgbClr val="E2E6E9"/>
                </a:solidFill>
                <a:latin typeface="Merriweather" pitchFamily="34" charset="0"/>
                <a:ea typeface="Merriweather" pitchFamily="34" charset="-122"/>
                <a:cs typeface="Merriweather" pitchFamily="34" charset="-120"/>
              </a:rPr>
              <a:t>User Satisfaction</a:t>
            </a:r>
            <a:endParaRPr lang="en-US" sz="1500" dirty="0"/>
          </a:p>
        </p:txBody>
      </p:sp>
      <p:sp>
        <p:nvSpPr>
          <p:cNvPr id="15" name="Text 8"/>
          <p:cNvSpPr/>
          <p:nvPr/>
        </p:nvSpPr>
        <p:spPr>
          <a:xfrm>
            <a:off x="543758" y="7180421"/>
            <a:ext cx="8056483" cy="497205"/>
          </a:xfrm>
          <a:prstGeom prst="rect">
            <a:avLst/>
          </a:prstGeom>
          <a:noFill/>
          <a:ln/>
        </p:spPr>
        <p:txBody>
          <a:bodyPr wrap="square" lIns="0" tIns="0" rIns="0" bIns="0" rtlCol="0" anchor="t"/>
          <a:lstStyle/>
          <a:p>
            <a:pPr marL="0" indent="0" algn="l">
              <a:lnSpc>
                <a:spcPts val="1950"/>
              </a:lnSpc>
              <a:buNone/>
            </a:pPr>
            <a:r>
              <a:rPr lang="en-US" sz="1200" dirty="0">
                <a:solidFill>
                  <a:srgbClr val="E2E6E9"/>
                </a:solidFill>
                <a:latin typeface="Merriweather" pitchFamily="34" charset="0"/>
                <a:ea typeface="Merriweather" pitchFamily="34" charset="-122"/>
                <a:cs typeface="Merriweather" pitchFamily="34" charset="-120"/>
              </a:rPr>
              <a:t>Positive feedback from ship owners and management employees on the usability and efficiency of the system.</a:t>
            </a:r>
            <a:endParaRPr lang="en-US" sz="1200" dirty="0"/>
          </a:p>
        </p:txBody>
      </p:sp>
      <p:pic>
        <p:nvPicPr>
          <p:cNvPr id="17" name="Picture 16" descr="A control panel in a ship&#10;&#10;Description automatically generated">
            <a:extLst>
              <a:ext uri="{FF2B5EF4-FFF2-40B4-BE49-F238E27FC236}">
                <a16:creationId xmlns:a16="http://schemas.microsoft.com/office/drawing/2014/main" id="{A097BC94-AEBF-3944-297F-4DE171F24FF6}"/>
              </a:ext>
            </a:extLst>
          </p:cNvPr>
          <p:cNvPicPr>
            <a:picLocks noChangeAspect="1"/>
          </p:cNvPicPr>
          <p:nvPr/>
        </p:nvPicPr>
        <p:blipFill>
          <a:blip r:embed="rId7"/>
          <a:stretch>
            <a:fillRect/>
          </a:stretch>
        </p:blipFill>
        <p:spPr>
          <a:xfrm>
            <a:off x="8921141" y="5086826"/>
            <a:ext cx="5709373" cy="3142774"/>
          </a:xfrm>
          <a:prstGeom prst="rect">
            <a:avLst/>
          </a:prstGeom>
        </p:spPr>
      </p:pic>
      <p:pic>
        <p:nvPicPr>
          <p:cNvPr id="19" name="Picture 18" descr="A map of the world&#10;&#10;Description automatically generated">
            <a:extLst>
              <a:ext uri="{FF2B5EF4-FFF2-40B4-BE49-F238E27FC236}">
                <a16:creationId xmlns:a16="http://schemas.microsoft.com/office/drawing/2014/main" id="{3869F69F-A5BE-831D-73E9-DDEA9A3EE518}"/>
              </a:ext>
            </a:extLst>
          </p:cNvPr>
          <p:cNvPicPr>
            <a:picLocks noChangeAspect="1"/>
          </p:cNvPicPr>
          <p:nvPr/>
        </p:nvPicPr>
        <p:blipFill>
          <a:blip r:embed="rId8"/>
          <a:stretch>
            <a:fillRect/>
          </a:stretch>
        </p:blipFill>
        <p:spPr>
          <a:xfrm>
            <a:off x="8921141" y="1905987"/>
            <a:ext cx="5709259" cy="3189174"/>
          </a:xfrm>
          <a:prstGeom prst="rect">
            <a:avLst/>
          </a:prstGeom>
        </p:spPr>
      </p:pic>
      <p:pic>
        <p:nvPicPr>
          <p:cNvPr id="21" name="Picture 20" descr="A cartoon of a person in a uniform and a person in a hat&#10;&#10;Description automatically generated">
            <a:extLst>
              <a:ext uri="{FF2B5EF4-FFF2-40B4-BE49-F238E27FC236}">
                <a16:creationId xmlns:a16="http://schemas.microsoft.com/office/drawing/2014/main" id="{01CCAA30-10C6-DBE1-6CC9-CA95B8B32DDC}"/>
              </a:ext>
            </a:extLst>
          </p:cNvPr>
          <p:cNvPicPr>
            <a:picLocks noChangeAspect="1"/>
          </p:cNvPicPr>
          <p:nvPr/>
        </p:nvPicPr>
        <p:blipFill>
          <a:blip r:embed="rId9"/>
          <a:srcRect t="-1" b="37487"/>
          <a:stretch/>
        </p:blipFill>
        <p:spPr>
          <a:xfrm>
            <a:off x="8921141" y="-4832"/>
            <a:ext cx="5709372" cy="191081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807006" y="658058"/>
            <a:ext cx="5220295" cy="652582"/>
          </a:xfrm>
          <a:prstGeom prst="rect">
            <a:avLst/>
          </a:prstGeom>
          <a:noFill/>
          <a:ln/>
        </p:spPr>
        <p:txBody>
          <a:bodyPr wrap="none" lIns="0" tIns="0" rIns="0" bIns="0" rtlCol="0" anchor="t"/>
          <a:lstStyle/>
          <a:p>
            <a:pPr marL="0" indent="0">
              <a:lnSpc>
                <a:spcPts val="5100"/>
              </a:lnSpc>
              <a:buNone/>
            </a:pPr>
            <a:r>
              <a:rPr lang="en-US" sz="4100" dirty="0">
                <a:solidFill>
                  <a:srgbClr val="F5F0F0"/>
                </a:solidFill>
                <a:latin typeface="Times New Roman" panose="02020603050405020304" pitchFamily="18" charset="0"/>
                <a:ea typeface="Merriweather" pitchFamily="34" charset="-122"/>
                <a:cs typeface="Times New Roman" panose="02020603050405020304" pitchFamily="18" charset="0"/>
              </a:rPr>
              <a:t>Conclusion</a:t>
            </a:r>
            <a:endParaRPr lang="en-US" sz="4100" dirty="0">
              <a:latin typeface="Times New Roman" panose="02020603050405020304" pitchFamily="18" charset="0"/>
              <a:cs typeface="Times New Roman" panose="02020603050405020304" pitchFamily="18" charset="0"/>
            </a:endParaRPr>
          </a:p>
        </p:txBody>
      </p:sp>
      <p:pic>
        <p:nvPicPr>
          <p:cNvPr id="4" name="Image 1" descr="preencoded.png"/>
          <p:cNvPicPr>
            <a:picLocks noChangeAspect="1"/>
          </p:cNvPicPr>
          <p:nvPr/>
        </p:nvPicPr>
        <p:blipFill>
          <a:blip r:embed="rId3"/>
          <a:stretch>
            <a:fillRect/>
          </a:stretch>
        </p:blipFill>
        <p:spPr>
          <a:xfrm>
            <a:off x="807006" y="1623774"/>
            <a:ext cx="1044059" cy="2205276"/>
          </a:xfrm>
          <a:prstGeom prst="rect">
            <a:avLst/>
          </a:prstGeom>
        </p:spPr>
      </p:pic>
      <p:sp>
        <p:nvSpPr>
          <p:cNvPr id="5" name="Text 1"/>
          <p:cNvSpPr/>
          <p:nvPr/>
        </p:nvSpPr>
        <p:spPr>
          <a:xfrm>
            <a:off x="2164199" y="1832491"/>
            <a:ext cx="4289822" cy="326231"/>
          </a:xfrm>
          <a:prstGeom prst="rect">
            <a:avLst/>
          </a:prstGeom>
          <a:noFill/>
          <a:ln/>
        </p:spPr>
        <p:txBody>
          <a:bodyPr wrap="none" lIns="0" tIns="0" rIns="0" bIns="0" rtlCol="0" anchor="t"/>
          <a:lstStyle/>
          <a:p>
            <a:pPr marL="0" indent="0" algn="l">
              <a:lnSpc>
                <a:spcPts val="2550"/>
              </a:lnSpc>
              <a:buNone/>
            </a:pPr>
            <a:r>
              <a:rPr lang="en-US" sz="2050" dirty="0">
                <a:solidFill>
                  <a:srgbClr val="E2E6E9"/>
                </a:solidFill>
                <a:latin typeface="Merriweather" pitchFamily="34" charset="0"/>
                <a:ea typeface="Merriweather" pitchFamily="34" charset="-122"/>
                <a:cs typeface="Merriweather" pitchFamily="34" charset="-120"/>
              </a:rPr>
              <a:t>Addresses operational challenges</a:t>
            </a:r>
            <a:endParaRPr lang="en-US" sz="2050" dirty="0"/>
          </a:p>
        </p:txBody>
      </p:sp>
      <p:sp>
        <p:nvSpPr>
          <p:cNvPr id="6" name="Text 2"/>
          <p:cNvSpPr/>
          <p:nvPr/>
        </p:nvSpPr>
        <p:spPr>
          <a:xfrm>
            <a:off x="2164199" y="2283976"/>
            <a:ext cx="6325195" cy="1336358"/>
          </a:xfrm>
          <a:prstGeom prst="rect">
            <a:avLst/>
          </a:prstGeom>
          <a:noFill/>
          <a:ln/>
        </p:spPr>
        <p:txBody>
          <a:bodyPr wrap="square" lIns="0" tIns="0" rIns="0" bIns="0" rtlCol="0" anchor="t"/>
          <a:lstStyle/>
          <a:p>
            <a:pPr marL="0" indent="0" algn="l">
              <a:lnSpc>
                <a:spcPts val="2600"/>
              </a:lnSpc>
              <a:buNone/>
            </a:pPr>
            <a:r>
              <a:rPr lang="en-US" sz="1600" dirty="0">
                <a:solidFill>
                  <a:srgbClr val="E2E6E9"/>
                </a:solidFill>
                <a:latin typeface="Merriweather" pitchFamily="34" charset="0"/>
                <a:ea typeface="Merriweather" pitchFamily="34" charset="-122"/>
                <a:cs typeface="Merriweather" pitchFamily="34" charset="-120"/>
              </a:rPr>
              <a:t>The Maritime Management Portal addresses critical operational challenges in the shipping industry by automating crew scheduling and providing real-time updates.</a:t>
            </a:r>
            <a:endParaRPr lang="en-US" sz="1600" dirty="0"/>
          </a:p>
        </p:txBody>
      </p:sp>
      <p:pic>
        <p:nvPicPr>
          <p:cNvPr id="7" name="Image 2" descr="preencoded.png"/>
          <p:cNvPicPr>
            <a:picLocks noChangeAspect="1"/>
          </p:cNvPicPr>
          <p:nvPr/>
        </p:nvPicPr>
        <p:blipFill>
          <a:blip r:embed="rId4"/>
          <a:stretch>
            <a:fillRect/>
          </a:stretch>
        </p:blipFill>
        <p:spPr>
          <a:xfrm>
            <a:off x="807006" y="3829050"/>
            <a:ext cx="1044059" cy="1871186"/>
          </a:xfrm>
          <a:prstGeom prst="rect">
            <a:avLst/>
          </a:prstGeom>
        </p:spPr>
      </p:pic>
      <p:sp>
        <p:nvSpPr>
          <p:cNvPr id="8" name="Text 3"/>
          <p:cNvSpPr/>
          <p:nvPr/>
        </p:nvSpPr>
        <p:spPr>
          <a:xfrm>
            <a:off x="2164199" y="4037767"/>
            <a:ext cx="3554968" cy="326231"/>
          </a:xfrm>
          <a:prstGeom prst="rect">
            <a:avLst/>
          </a:prstGeom>
          <a:noFill/>
          <a:ln/>
        </p:spPr>
        <p:txBody>
          <a:bodyPr wrap="none" lIns="0" tIns="0" rIns="0" bIns="0" rtlCol="0" anchor="t"/>
          <a:lstStyle/>
          <a:p>
            <a:pPr marL="0" indent="0" algn="l">
              <a:lnSpc>
                <a:spcPts val="2550"/>
              </a:lnSpc>
              <a:buNone/>
            </a:pPr>
            <a:r>
              <a:rPr lang="en-US" sz="2050" dirty="0">
                <a:solidFill>
                  <a:srgbClr val="E2E6E9"/>
                </a:solidFill>
                <a:latin typeface="Merriweather" pitchFamily="34" charset="0"/>
                <a:ea typeface="Merriweather" pitchFamily="34" charset="-122"/>
                <a:cs typeface="Merriweather" pitchFamily="34" charset="-120"/>
              </a:rPr>
              <a:t>Enhances efficiency with AI</a:t>
            </a:r>
            <a:endParaRPr lang="en-US" sz="2050" dirty="0"/>
          </a:p>
        </p:txBody>
      </p:sp>
      <p:sp>
        <p:nvSpPr>
          <p:cNvPr id="9" name="Text 4"/>
          <p:cNvSpPr/>
          <p:nvPr/>
        </p:nvSpPr>
        <p:spPr>
          <a:xfrm>
            <a:off x="2164199" y="4489252"/>
            <a:ext cx="6325195" cy="1002268"/>
          </a:xfrm>
          <a:prstGeom prst="rect">
            <a:avLst/>
          </a:prstGeom>
          <a:noFill/>
          <a:ln/>
        </p:spPr>
        <p:txBody>
          <a:bodyPr wrap="square" lIns="0" tIns="0" rIns="0" bIns="0" rtlCol="0" anchor="t"/>
          <a:lstStyle/>
          <a:p>
            <a:pPr marL="0" indent="0" algn="l">
              <a:lnSpc>
                <a:spcPts val="2600"/>
              </a:lnSpc>
              <a:buNone/>
            </a:pPr>
            <a:r>
              <a:rPr lang="en-US" sz="1600" dirty="0">
                <a:solidFill>
                  <a:srgbClr val="E2E6E9"/>
                </a:solidFill>
                <a:latin typeface="Merriweather" pitchFamily="34" charset="0"/>
                <a:ea typeface="Merriweather" pitchFamily="34" charset="-122"/>
                <a:cs typeface="Merriweather" pitchFamily="34" charset="-120"/>
              </a:rPr>
              <a:t>The integration of AI-based cargo prediction enhances the system's capability to manage complex schedules and improve overall efficiency.</a:t>
            </a:r>
            <a:endParaRPr lang="en-US" sz="1600" dirty="0"/>
          </a:p>
        </p:txBody>
      </p:sp>
      <p:pic>
        <p:nvPicPr>
          <p:cNvPr id="10" name="Image 3" descr="preencoded.png"/>
          <p:cNvPicPr>
            <a:picLocks noChangeAspect="1"/>
          </p:cNvPicPr>
          <p:nvPr/>
        </p:nvPicPr>
        <p:blipFill>
          <a:blip r:embed="rId5"/>
          <a:stretch>
            <a:fillRect/>
          </a:stretch>
        </p:blipFill>
        <p:spPr>
          <a:xfrm>
            <a:off x="807006" y="5700236"/>
            <a:ext cx="1044059" cy="1871186"/>
          </a:xfrm>
          <a:prstGeom prst="rect">
            <a:avLst/>
          </a:prstGeom>
        </p:spPr>
      </p:pic>
      <p:sp>
        <p:nvSpPr>
          <p:cNvPr id="11" name="Text 5"/>
          <p:cNvSpPr/>
          <p:nvPr/>
        </p:nvSpPr>
        <p:spPr>
          <a:xfrm>
            <a:off x="2164199" y="5908953"/>
            <a:ext cx="5448657" cy="326231"/>
          </a:xfrm>
          <a:prstGeom prst="rect">
            <a:avLst/>
          </a:prstGeom>
          <a:noFill/>
          <a:ln/>
        </p:spPr>
        <p:txBody>
          <a:bodyPr wrap="none" lIns="0" tIns="0" rIns="0" bIns="0" rtlCol="0" anchor="t"/>
          <a:lstStyle/>
          <a:p>
            <a:pPr marL="0" indent="0" algn="l">
              <a:lnSpc>
                <a:spcPts val="2550"/>
              </a:lnSpc>
              <a:buNone/>
            </a:pPr>
            <a:r>
              <a:rPr lang="en-US" sz="2050" dirty="0">
                <a:solidFill>
                  <a:srgbClr val="E2E6E9"/>
                </a:solidFill>
                <a:latin typeface="Merriweather" pitchFamily="34" charset="0"/>
                <a:ea typeface="Merriweather" pitchFamily="34" charset="-122"/>
                <a:cs typeface="Merriweather" pitchFamily="34" charset="-120"/>
              </a:rPr>
              <a:t>Ensures transparency and communication</a:t>
            </a:r>
            <a:endParaRPr lang="en-US" sz="2050" dirty="0"/>
          </a:p>
        </p:txBody>
      </p:sp>
      <p:sp>
        <p:nvSpPr>
          <p:cNvPr id="12" name="Text 6"/>
          <p:cNvSpPr/>
          <p:nvPr/>
        </p:nvSpPr>
        <p:spPr>
          <a:xfrm>
            <a:off x="2164199" y="6360438"/>
            <a:ext cx="6325195" cy="1002268"/>
          </a:xfrm>
          <a:prstGeom prst="rect">
            <a:avLst/>
          </a:prstGeom>
          <a:noFill/>
          <a:ln/>
        </p:spPr>
        <p:txBody>
          <a:bodyPr wrap="square" lIns="0" tIns="0" rIns="0" bIns="0" rtlCol="0" anchor="t"/>
          <a:lstStyle/>
          <a:p>
            <a:pPr marL="0" indent="0" algn="l">
              <a:lnSpc>
                <a:spcPts val="2600"/>
              </a:lnSpc>
              <a:buNone/>
            </a:pPr>
            <a:r>
              <a:rPr lang="en-US" sz="1600" dirty="0">
                <a:solidFill>
                  <a:srgbClr val="E2E6E9"/>
                </a:solidFill>
                <a:latin typeface="Merriweather" pitchFamily="34" charset="0"/>
                <a:ea typeface="Merriweather" pitchFamily="34" charset="-122"/>
                <a:cs typeface="Merriweather" pitchFamily="34" charset="-120"/>
              </a:rPr>
              <a:t>The portal's holistic approach to managing ships, crew members, and voyages ensures seamless communication and operational transparency for all stakeholders.</a:t>
            </a:r>
            <a:endParaRPr lang="en-US" sz="1600" dirty="0"/>
          </a:p>
        </p:txBody>
      </p:sp>
      <p:pic>
        <p:nvPicPr>
          <p:cNvPr id="14" name="Picture 13">
            <a:extLst>
              <a:ext uri="{FF2B5EF4-FFF2-40B4-BE49-F238E27FC236}">
                <a16:creationId xmlns:a16="http://schemas.microsoft.com/office/drawing/2014/main" id="{E78A9C00-A97F-7E8E-D5B6-96F499E345CF}"/>
              </a:ext>
            </a:extLst>
          </p:cNvPr>
          <p:cNvPicPr>
            <a:picLocks noChangeAspect="1"/>
          </p:cNvPicPr>
          <p:nvPr/>
        </p:nvPicPr>
        <p:blipFill>
          <a:blip r:embed="rId6"/>
          <a:srcRect l="50797" t="381" r="5933"/>
          <a:stretch/>
        </p:blipFill>
        <p:spPr>
          <a:xfrm>
            <a:off x="8911236" y="1"/>
            <a:ext cx="5719164" cy="82295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9169" y="5887760"/>
            <a:ext cx="14630400" cy="2341840"/>
          </a:xfrm>
          <a:prstGeom prst="rect">
            <a:avLst/>
          </a:prstGeom>
        </p:spPr>
      </p:pic>
      <p:sp>
        <p:nvSpPr>
          <p:cNvPr id="3" name="Text 0"/>
          <p:cNvSpPr/>
          <p:nvPr/>
        </p:nvSpPr>
        <p:spPr>
          <a:xfrm>
            <a:off x="746879" y="675203"/>
            <a:ext cx="5108019" cy="585430"/>
          </a:xfrm>
          <a:prstGeom prst="rect">
            <a:avLst/>
          </a:prstGeom>
          <a:noFill/>
          <a:ln/>
        </p:spPr>
        <p:txBody>
          <a:bodyPr wrap="none" lIns="0" tIns="0" rIns="0" bIns="0" rtlCol="0" anchor="t"/>
          <a:lstStyle/>
          <a:p>
            <a:pPr marL="0" indent="0">
              <a:lnSpc>
                <a:spcPts val="4600"/>
              </a:lnSpc>
              <a:buNone/>
            </a:pPr>
            <a:r>
              <a:rPr lang="en-US" sz="3650" dirty="0">
                <a:solidFill>
                  <a:srgbClr val="F5F0F0"/>
                </a:solidFill>
                <a:latin typeface="Merriweather" pitchFamily="34" charset="0"/>
                <a:ea typeface="Merriweather" pitchFamily="34" charset="-122"/>
                <a:cs typeface="Merriweather" pitchFamily="34" charset="-120"/>
              </a:rPr>
              <a:t>Research Paper Status</a:t>
            </a:r>
            <a:endParaRPr lang="en-US" sz="3650" dirty="0"/>
          </a:p>
        </p:txBody>
      </p:sp>
      <p:sp>
        <p:nvSpPr>
          <p:cNvPr id="4" name="Shape 1"/>
          <p:cNvSpPr/>
          <p:nvPr/>
        </p:nvSpPr>
        <p:spPr>
          <a:xfrm>
            <a:off x="746879" y="3689151"/>
            <a:ext cx="12260223" cy="22860"/>
          </a:xfrm>
          <a:prstGeom prst="roundRect">
            <a:avLst>
              <a:gd name="adj" fmla="val 344221"/>
            </a:avLst>
          </a:prstGeom>
          <a:solidFill>
            <a:srgbClr val="194A99"/>
          </a:solidFill>
          <a:ln/>
        </p:spPr>
        <p:txBody>
          <a:bodyPr/>
          <a:lstStyle/>
          <a:p>
            <a:endParaRPr lang="en-IN"/>
          </a:p>
        </p:txBody>
      </p:sp>
      <p:sp>
        <p:nvSpPr>
          <p:cNvPr id="5" name="Shape 2"/>
          <p:cNvSpPr/>
          <p:nvPr/>
        </p:nvSpPr>
        <p:spPr>
          <a:xfrm>
            <a:off x="4790956" y="3033474"/>
            <a:ext cx="22860" cy="655677"/>
          </a:xfrm>
          <a:prstGeom prst="roundRect">
            <a:avLst>
              <a:gd name="adj" fmla="val 344221"/>
            </a:avLst>
          </a:prstGeom>
          <a:solidFill>
            <a:srgbClr val="194A99"/>
          </a:solidFill>
          <a:ln/>
        </p:spPr>
        <p:txBody>
          <a:bodyPr/>
          <a:lstStyle/>
          <a:p>
            <a:endParaRPr lang="en-IN"/>
          </a:p>
        </p:txBody>
      </p:sp>
      <p:sp>
        <p:nvSpPr>
          <p:cNvPr id="6" name="Shape 3"/>
          <p:cNvSpPr/>
          <p:nvPr/>
        </p:nvSpPr>
        <p:spPr>
          <a:xfrm>
            <a:off x="4591645" y="3478410"/>
            <a:ext cx="421481" cy="421481"/>
          </a:xfrm>
          <a:prstGeom prst="roundRect">
            <a:avLst>
              <a:gd name="adj" fmla="val 18670"/>
            </a:avLst>
          </a:prstGeom>
          <a:solidFill>
            <a:srgbClr val="003180"/>
          </a:solidFill>
          <a:ln w="7620">
            <a:solidFill>
              <a:srgbClr val="194A99"/>
            </a:solidFill>
            <a:prstDash val="solid"/>
          </a:ln>
        </p:spPr>
        <p:txBody>
          <a:bodyPr/>
          <a:lstStyle/>
          <a:p>
            <a:endParaRPr lang="en-IN"/>
          </a:p>
        </p:txBody>
      </p:sp>
      <p:sp>
        <p:nvSpPr>
          <p:cNvPr id="7" name="Text 4"/>
          <p:cNvSpPr/>
          <p:nvPr/>
        </p:nvSpPr>
        <p:spPr>
          <a:xfrm>
            <a:off x="4740473" y="3548657"/>
            <a:ext cx="123706" cy="280988"/>
          </a:xfrm>
          <a:prstGeom prst="rect">
            <a:avLst/>
          </a:prstGeom>
          <a:noFill/>
          <a:ln/>
        </p:spPr>
        <p:txBody>
          <a:bodyPr wrap="none" lIns="0" tIns="0" rIns="0" bIns="0" rtlCol="0" anchor="t"/>
          <a:lstStyle/>
          <a:p>
            <a:pPr marL="0" indent="0" algn="ctr">
              <a:lnSpc>
                <a:spcPts val="2200"/>
              </a:lnSpc>
              <a:buNone/>
            </a:pPr>
            <a:r>
              <a:rPr lang="en-US" sz="2200" dirty="0">
                <a:solidFill>
                  <a:srgbClr val="E2E6E9"/>
                </a:solidFill>
                <a:latin typeface="Merriweather" pitchFamily="34" charset="0"/>
                <a:ea typeface="Merriweather" pitchFamily="34" charset="-122"/>
                <a:cs typeface="Merriweather" pitchFamily="34" charset="-120"/>
              </a:rPr>
              <a:t>1</a:t>
            </a:r>
            <a:endParaRPr lang="en-US" sz="2200" dirty="0"/>
          </a:p>
        </p:txBody>
      </p:sp>
      <p:sp>
        <p:nvSpPr>
          <p:cNvPr id="8" name="Text 5"/>
          <p:cNvSpPr/>
          <p:nvPr/>
        </p:nvSpPr>
        <p:spPr>
          <a:xfrm>
            <a:off x="3631406" y="1541621"/>
            <a:ext cx="2341840" cy="292656"/>
          </a:xfrm>
          <a:prstGeom prst="rect">
            <a:avLst/>
          </a:prstGeom>
          <a:noFill/>
          <a:ln/>
        </p:spPr>
        <p:txBody>
          <a:bodyPr wrap="none" lIns="0" tIns="0" rIns="0" bIns="0" rtlCol="0" anchor="t"/>
          <a:lstStyle/>
          <a:p>
            <a:pPr marL="0" indent="0" algn="ctr">
              <a:lnSpc>
                <a:spcPts val="2300"/>
              </a:lnSpc>
              <a:buNone/>
            </a:pPr>
            <a:r>
              <a:rPr lang="en-US" sz="1800" dirty="0">
                <a:solidFill>
                  <a:srgbClr val="E2E6E9"/>
                </a:solidFill>
                <a:latin typeface="Merriweather" pitchFamily="34" charset="0"/>
                <a:ea typeface="Merriweather" pitchFamily="34" charset="-122"/>
                <a:cs typeface="Merriweather" pitchFamily="34" charset="-120"/>
              </a:rPr>
              <a:t>Current Status</a:t>
            </a:r>
            <a:endParaRPr lang="en-US" sz="1800" dirty="0"/>
          </a:p>
        </p:txBody>
      </p:sp>
      <p:sp>
        <p:nvSpPr>
          <p:cNvPr id="9" name="Text 6"/>
          <p:cNvSpPr/>
          <p:nvPr/>
        </p:nvSpPr>
        <p:spPr>
          <a:xfrm>
            <a:off x="934164" y="1946671"/>
            <a:ext cx="7736443" cy="899398"/>
          </a:xfrm>
          <a:prstGeom prst="rect">
            <a:avLst/>
          </a:prstGeom>
          <a:noFill/>
          <a:ln/>
        </p:spPr>
        <p:txBody>
          <a:bodyPr wrap="square" lIns="0" tIns="0" rIns="0" bIns="0" rtlCol="0" anchor="t"/>
          <a:lstStyle/>
          <a:p>
            <a:pPr marL="0" indent="0" algn="ctr">
              <a:lnSpc>
                <a:spcPts val="2350"/>
              </a:lnSpc>
              <a:buNone/>
            </a:pPr>
            <a:r>
              <a:rPr lang="en-US" sz="1450" dirty="0">
                <a:solidFill>
                  <a:srgbClr val="E2E6E9"/>
                </a:solidFill>
                <a:latin typeface="Merriweather" pitchFamily="34" charset="0"/>
                <a:ea typeface="Merriweather" pitchFamily="34" charset="-122"/>
                <a:cs typeface="Merriweather" pitchFamily="34" charset="-120"/>
              </a:rPr>
              <a:t>Research paper in progress, focusing on the AI-based methodology. Literature review and methodology sections completed. Data collection and implementation phase ongoing.</a:t>
            </a:r>
            <a:endParaRPr lang="en-US" sz="1450" dirty="0"/>
          </a:p>
        </p:txBody>
      </p:sp>
      <p:sp>
        <p:nvSpPr>
          <p:cNvPr id="10" name="Shape 7"/>
          <p:cNvSpPr/>
          <p:nvPr/>
        </p:nvSpPr>
        <p:spPr>
          <a:xfrm>
            <a:off x="8940046" y="3689151"/>
            <a:ext cx="22860" cy="655677"/>
          </a:xfrm>
          <a:prstGeom prst="roundRect">
            <a:avLst>
              <a:gd name="adj" fmla="val 344221"/>
            </a:avLst>
          </a:prstGeom>
          <a:solidFill>
            <a:srgbClr val="194A99"/>
          </a:solidFill>
          <a:ln/>
        </p:spPr>
        <p:txBody>
          <a:bodyPr/>
          <a:lstStyle/>
          <a:p>
            <a:endParaRPr lang="en-IN"/>
          </a:p>
        </p:txBody>
      </p:sp>
      <p:sp>
        <p:nvSpPr>
          <p:cNvPr id="11" name="Shape 8"/>
          <p:cNvSpPr/>
          <p:nvPr/>
        </p:nvSpPr>
        <p:spPr>
          <a:xfrm>
            <a:off x="8740735" y="3478410"/>
            <a:ext cx="421481" cy="421481"/>
          </a:xfrm>
          <a:prstGeom prst="roundRect">
            <a:avLst>
              <a:gd name="adj" fmla="val 18670"/>
            </a:avLst>
          </a:prstGeom>
          <a:solidFill>
            <a:srgbClr val="003180"/>
          </a:solidFill>
          <a:ln w="7620">
            <a:solidFill>
              <a:srgbClr val="194A99"/>
            </a:solidFill>
            <a:prstDash val="solid"/>
          </a:ln>
        </p:spPr>
        <p:txBody>
          <a:bodyPr/>
          <a:lstStyle/>
          <a:p>
            <a:endParaRPr lang="en-IN"/>
          </a:p>
        </p:txBody>
      </p:sp>
      <p:sp>
        <p:nvSpPr>
          <p:cNvPr id="12" name="Text 9"/>
          <p:cNvSpPr/>
          <p:nvPr/>
        </p:nvSpPr>
        <p:spPr>
          <a:xfrm>
            <a:off x="8867418" y="3548657"/>
            <a:ext cx="168116" cy="280988"/>
          </a:xfrm>
          <a:prstGeom prst="rect">
            <a:avLst/>
          </a:prstGeom>
          <a:noFill/>
          <a:ln/>
        </p:spPr>
        <p:txBody>
          <a:bodyPr wrap="none" lIns="0" tIns="0" rIns="0" bIns="0" rtlCol="0" anchor="t"/>
          <a:lstStyle/>
          <a:p>
            <a:pPr marL="0" indent="0" algn="ctr">
              <a:lnSpc>
                <a:spcPts val="2200"/>
              </a:lnSpc>
              <a:buNone/>
            </a:pPr>
            <a:r>
              <a:rPr lang="en-US" sz="2200" dirty="0">
                <a:solidFill>
                  <a:srgbClr val="E2E6E9"/>
                </a:solidFill>
                <a:latin typeface="Merriweather" pitchFamily="34" charset="0"/>
                <a:ea typeface="Merriweather" pitchFamily="34" charset="-122"/>
                <a:cs typeface="Merriweather" pitchFamily="34" charset="-120"/>
              </a:rPr>
              <a:t>2</a:t>
            </a:r>
            <a:endParaRPr lang="en-US" sz="2200" dirty="0"/>
          </a:p>
        </p:txBody>
      </p:sp>
      <p:sp>
        <p:nvSpPr>
          <p:cNvPr id="13" name="Text 10"/>
          <p:cNvSpPr/>
          <p:nvPr/>
        </p:nvSpPr>
        <p:spPr>
          <a:xfrm>
            <a:off x="7780615" y="4532232"/>
            <a:ext cx="2341840" cy="292656"/>
          </a:xfrm>
          <a:prstGeom prst="rect">
            <a:avLst/>
          </a:prstGeom>
          <a:noFill/>
          <a:ln/>
        </p:spPr>
        <p:txBody>
          <a:bodyPr wrap="none" lIns="0" tIns="0" rIns="0" bIns="0" rtlCol="0" anchor="t"/>
          <a:lstStyle/>
          <a:p>
            <a:pPr marL="0" indent="0" algn="ctr">
              <a:lnSpc>
                <a:spcPts val="2300"/>
              </a:lnSpc>
              <a:buNone/>
            </a:pPr>
            <a:r>
              <a:rPr lang="en-US" sz="1800" dirty="0">
                <a:solidFill>
                  <a:srgbClr val="E2E6E9"/>
                </a:solidFill>
                <a:latin typeface="Merriweather" pitchFamily="34" charset="0"/>
                <a:ea typeface="Merriweather" pitchFamily="34" charset="-122"/>
                <a:cs typeface="Merriweather" pitchFamily="34" charset="-120"/>
              </a:rPr>
              <a:t>Next Steps</a:t>
            </a:r>
            <a:endParaRPr lang="en-US" sz="1800" dirty="0"/>
          </a:p>
        </p:txBody>
      </p:sp>
      <p:sp>
        <p:nvSpPr>
          <p:cNvPr id="14" name="Text 11"/>
          <p:cNvSpPr/>
          <p:nvPr/>
        </p:nvSpPr>
        <p:spPr>
          <a:xfrm>
            <a:off x="5083254" y="4937283"/>
            <a:ext cx="7736562" cy="599599"/>
          </a:xfrm>
          <a:prstGeom prst="rect">
            <a:avLst/>
          </a:prstGeom>
          <a:noFill/>
          <a:ln/>
        </p:spPr>
        <p:txBody>
          <a:bodyPr wrap="square" lIns="0" tIns="0" rIns="0" bIns="0" rtlCol="0" anchor="t"/>
          <a:lstStyle/>
          <a:p>
            <a:pPr marL="0" indent="0" algn="ctr">
              <a:lnSpc>
                <a:spcPts val="2350"/>
              </a:lnSpc>
              <a:buNone/>
            </a:pPr>
            <a:r>
              <a:rPr lang="en-US" sz="1450" dirty="0">
                <a:solidFill>
                  <a:srgbClr val="E2E6E9"/>
                </a:solidFill>
                <a:latin typeface="Merriweather" pitchFamily="34" charset="0"/>
                <a:ea typeface="Merriweather" pitchFamily="34" charset="-122"/>
                <a:cs typeface="Merriweather" pitchFamily="34" charset="-120"/>
              </a:rPr>
              <a:t>Completion of data analysis and results. Submission to relevant maritime and AI journals within the next two months.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2850</TotalTime>
  <Words>1266</Words>
  <Application>Microsoft Office PowerPoint</Application>
  <PresentationFormat>Custom</PresentationFormat>
  <Paragraphs>83</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Merriweather</vt:lpstr>
      <vt:lpstr>Times New Roman</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Priyanshu Gairola</cp:lastModifiedBy>
  <cp:revision>5</cp:revision>
  <dcterms:created xsi:type="dcterms:W3CDTF">2024-10-08T15:01:54Z</dcterms:created>
  <dcterms:modified xsi:type="dcterms:W3CDTF">2024-11-15T10:18:31Z</dcterms:modified>
</cp:coreProperties>
</file>